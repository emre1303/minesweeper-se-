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9" r:id="rId1"/>
  </p:sldMasterIdLst>
  <p:notesMasterIdLst>
    <p:notesMasterId r:id="rId15"/>
  </p:notesMasterIdLst>
  <p:handoutMasterIdLst>
    <p:handoutMasterId r:id="rId16"/>
  </p:handoutMasterIdLst>
  <p:sldIdLst>
    <p:sldId id="268" r:id="rId2"/>
    <p:sldId id="269" r:id="rId3"/>
    <p:sldId id="270" r:id="rId4"/>
    <p:sldId id="277" r:id="rId5"/>
    <p:sldId id="271" r:id="rId6"/>
    <p:sldId id="279" r:id="rId7"/>
    <p:sldId id="275" r:id="rId8"/>
    <p:sldId id="282" r:id="rId9"/>
    <p:sldId id="280" r:id="rId10"/>
    <p:sldId id="281" r:id="rId11"/>
    <p:sldId id="283" r:id="rId12"/>
    <p:sldId id="274" r:id="rId13"/>
    <p:sldId id="278" r:id="rId14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80" autoAdjust="0"/>
    <p:restoredTop sz="94579" autoAdjust="0"/>
  </p:normalViewPr>
  <p:slideViewPr>
    <p:cSldViewPr>
      <p:cViewPr varScale="1">
        <p:scale>
          <a:sx n="158" d="100"/>
          <a:sy n="158" d="100"/>
        </p:scale>
        <p:origin x="216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388A7-5429-7442-BD81-798B3F4B5BE0}" type="datetime1">
              <a:rPr lang="it-IT"/>
              <a:pPr/>
              <a:t>02/06/25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3144663-F296-154C-879B-F265E0A1929F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762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425F76-5FCB-3E42-9F4B-C72054CFC5AB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598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Saluti, </a:t>
            </a:r>
            <a:r>
              <a:rPr lang="en-US" dirty="0" err="1"/>
              <a:t>presenteremo</a:t>
            </a:r>
            <a:r>
              <a:rPr lang="en-US" dirty="0"/>
              <a:t>…, nostril </a:t>
            </a:r>
            <a:r>
              <a:rPr lang="en-US" dirty="0" err="1"/>
              <a:t>nomi</a:t>
            </a:r>
            <a:r>
              <a:rPr lang="en-US" dirty="0"/>
              <a:t>, </a:t>
            </a:r>
            <a:r>
              <a:rPr lang="en-US" dirty="0" err="1"/>
              <a:t>materia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25F76-5FCB-3E42-9F4B-C72054CFC5AB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86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Parleremo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punti</a:t>
            </a:r>
            <a:r>
              <a:rPr lang="en-US" dirty="0"/>
              <a:t>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25F76-5FCB-3E42-9F4B-C72054CFC5AB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318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Development: multiple language support, graphical changes, (</a:t>
            </a:r>
            <a:r>
              <a:rPr lang="en-US" b="0" i="0" dirty="0">
                <a:effectLst/>
                <a:latin typeface="gg sans"/>
              </a:rPr>
              <a:t>• </a:t>
            </a:r>
            <a:r>
              <a:rPr lang="en-US" b="0" i="0" dirty="0" err="1">
                <a:effectLst/>
                <a:latin typeface="gg sans"/>
              </a:rPr>
              <a:t>Mancanza</a:t>
            </a:r>
            <a:r>
              <a:rPr lang="en-US" b="0" i="0" dirty="0">
                <a:effectLst/>
                <a:latin typeface="gg sans"/>
              </a:rPr>
              <a:t> di </a:t>
            </a:r>
            <a:r>
              <a:rPr lang="en-US" b="0" i="0" dirty="0" err="1">
                <a:effectLst/>
                <a:latin typeface="gg sans"/>
              </a:rPr>
              <a:t>gestione</a:t>
            </a:r>
            <a:r>
              <a:rPr lang="en-US" b="0" i="0" dirty="0">
                <a:effectLst/>
                <a:latin typeface="gg sans"/>
              </a:rPr>
              <a:t> </a:t>
            </a:r>
            <a:r>
              <a:rPr lang="en-US" b="0" i="0" dirty="0" err="1">
                <a:effectLst/>
                <a:latin typeface="gg sans"/>
              </a:rPr>
              <a:t>centralizzata</a:t>
            </a:r>
            <a:r>
              <a:rPr lang="en-US" b="0" i="0" dirty="0">
                <a:effectLst/>
                <a:latin typeface="gg sans"/>
              </a:rPr>
              <a:t> di </a:t>
            </a:r>
            <a:r>
              <a:rPr lang="en-US" b="0" i="0" dirty="0" err="1">
                <a:effectLst/>
                <a:latin typeface="gg sans"/>
              </a:rPr>
              <a:t>salvataggi</a:t>
            </a:r>
            <a:r>
              <a:rPr lang="en-US" b="0" i="0" dirty="0">
                <a:effectLst/>
                <a:latin typeface="gg sans"/>
              </a:rPr>
              <a:t> e </a:t>
            </a:r>
            <a:r>
              <a:rPr lang="en-US" b="0" i="0" dirty="0" err="1">
                <a:effectLst/>
                <a:latin typeface="gg sans"/>
              </a:rPr>
              <a:t>preferenze</a:t>
            </a:r>
            <a:r>
              <a:rPr lang="en-US" b="0" i="0" dirty="0">
                <a:effectLst/>
                <a:latin typeface="gg sans"/>
              </a:rPr>
              <a:t> cross-platform • </a:t>
            </a:r>
            <a:r>
              <a:rPr lang="en-US" b="0" i="0" dirty="0" err="1">
                <a:effectLst/>
                <a:latin typeface="gg sans"/>
              </a:rPr>
              <a:t>Scarso</a:t>
            </a:r>
            <a:r>
              <a:rPr lang="en-US" b="0" i="0" dirty="0">
                <a:effectLst/>
                <a:latin typeface="gg sans"/>
              </a:rPr>
              <a:t> </a:t>
            </a:r>
            <a:r>
              <a:rPr lang="en-US" b="0" i="0" dirty="0" err="1">
                <a:effectLst/>
                <a:latin typeface="gg sans"/>
              </a:rPr>
              <a:t>supporto</a:t>
            </a:r>
            <a:r>
              <a:rPr lang="en-US" b="0" i="0" dirty="0">
                <a:effectLst/>
                <a:latin typeface="gg sans"/>
              </a:rPr>
              <a:t> all’i18n (</a:t>
            </a:r>
            <a:r>
              <a:rPr lang="en-US" b="0" i="0" dirty="0" err="1">
                <a:effectLst/>
                <a:latin typeface="gg sans"/>
              </a:rPr>
              <a:t>multilingua</a:t>
            </a:r>
            <a:r>
              <a:rPr lang="en-US" b="0" i="0" dirty="0">
                <a:effectLst/>
                <a:latin typeface="gg sans"/>
              </a:rPr>
              <a:t>) • </a:t>
            </a:r>
            <a:r>
              <a:rPr lang="en-US" b="0" i="0" dirty="0" err="1">
                <a:effectLst/>
                <a:latin typeface="gg sans"/>
              </a:rPr>
              <a:t>Interfaccia</a:t>
            </a:r>
            <a:r>
              <a:rPr lang="en-US" b="0" i="0" dirty="0">
                <a:effectLst/>
                <a:latin typeface="gg sans"/>
              </a:rPr>
              <a:t> “classic” poco </a:t>
            </a:r>
            <a:r>
              <a:rPr lang="en-US" b="0" i="0" dirty="0" err="1">
                <a:effectLst/>
                <a:latin typeface="gg sans"/>
              </a:rPr>
              <a:t>estensibile</a:t>
            </a:r>
            <a:r>
              <a:rPr lang="en-US" b="0" i="0" dirty="0">
                <a:effectLst/>
                <a:latin typeface="gg sans"/>
              </a:rPr>
              <a:t> a </a:t>
            </a:r>
            <a:r>
              <a:rPr lang="en-US" b="0" i="0" dirty="0" err="1">
                <a:effectLst/>
                <a:latin typeface="gg sans"/>
              </a:rPr>
              <a:t>temi</a:t>
            </a:r>
            <a:r>
              <a:rPr lang="en-US" b="0" i="0" dirty="0">
                <a:effectLst/>
                <a:latin typeface="gg sans"/>
              </a:rPr>
              <a:t> e </a:t>
            </a:r>
            <a:r>
              <a:rPr lang="en-US" b="0" i="0" dirty="0" err="1">
                <a:effectLst/>
                <a:latin typeface="gg sans"/>
              </a:rPr>
              <a:t>configurazioni</a:t>
            </a:r>
            <a:r>
              <a:rPr lang="en-US" b="0" i="0" dirty="0">
                <a:effectLst/>
                <a:latin typeface="gg san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25F76-5FCB-3E42-9F4B-C72054CFC5AB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572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23850" y="1700808"/>
            <a:ext cx="7848550" cy="19442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4200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fr-CH" dirty="0"/>
              <a:t>Inserisci titolo</a:t>
            </a:r>
            <a:endParaRPr lang="it-IT" dirty="0"/>
          </a:p>
        </p:txBody>
      </p:sp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lvl="0"/>
            <a:r>
              <a:rPr lang="fr-CH" dirty="0"/>
              <a:t>Inserire nome studente</a:t>
            </a:r>
          </a:p>
        </p:txBody>
      </p:sp>
      <p:cxnSp>
        <p:nvCxnSpPr>
          <p:cNvPr id="11" name="Connettore 1 10"/>
          <p:cNvCxnSpPr/>
          <p:nvPr userDrawn="1"/>
        </p:nvCxnSpPr>
        <p:spPr>
          <a:xfrm>
            <a:off x="323528" y="4012535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gnaposto testo 12"/>
          <p:cNvSpPr>
            <a:spLocks noGrp="1"/>
          </p:cNvSpPr>
          <p:nvPr>
            <p:ph type="body" sz="quarter" idx="17" hasCustomPrompt="1"/>
          </p:nvPr>
        </p:nvSpPr>
        <p:spPr>
          <a:xfrm>
            <a:off x="323528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Studente/i</a:t>
            </a:r>
          </a:p>
        </p:txBody>
      </p:sp>
      <p:sp>
        <p:nvSpPr>
          <p:cNvPr id="24" name="Segnaposto testo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3528" y="5331837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lvl="0"/>
            <a:r>
              <a:rPr lang="fr-CH" dirty="0"/>
              <a:t>Inserire corso di laurea</a:t>
            </a:r>
          </a:p>
        </p:txBody>
      </p:sp>
      <p:cxnSp>
        <p:nvCxnSpPr>
          <p:cNvPr id="25" name="Connettore 1 24"/>
          <p:cNvCxnSpPr/>
          <p:nvPr userDrawn="1"/>
        </p:nvCxnSpPr>
        <p:spPr>
          <a:xfrm>
            <a:off x="323528" y="5066218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egnaposto testo 12"/>
          <p:cNvSpPr>
            <a:spLocks noGrp="1"/>
          </p:cNvSpPr>
          <p:nvPr>
            <p:ph type="body" sz="quarter" idx="25" hasCustomPrompt="1"/>
          </p:nvPr>
        </p:nvSpPr>
        <p:spPr>
          <a:xfrm>
            <a:off x="323528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Corso di laurea</a:t>
            </a:r>
          </a:p>
        </p:txBody>
      </p:sp>
      <p:sp>
        <p:nvSpPr>
          <p:cNvPr id="27" name="Segnaposto testo 12"/>
          <p:cNvSpPr>
            <a:spLocks noGrp="1"/>
          </p:cNvSpPr>
          <p:nvPr>
            <p:ph type="body" sz="quarter" idx="26" hasCustomPrompt="1"/>
          </p:nvPr>
        </p:nvSpPr>
        <p:spPr>
          <a:xfrm>
            <a:off x="2987824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Modulo / </a:t>
            </a:r>
            <a:r>
              <a:rPr lang="fr-CH" dirty="0" err="1"/>
              <a:t>Codice</a:t>
            </a:r>
            <a:r>
              <a:rPr lang="fr-CH" dirty="0"/>
              <a:t> </a:t>
            </a:r>
            <a:r>
              <a:rPr lang="fr-CH" dirty="0" err="1"/>
              <a:t>Progetto</a:t>
            </a:r>
            <a:endParaRPr lang="fr-CH" dirty="0"/>
          </a:p>
        </p:txBody>
      </p:sp>
      <p:sp>
        <p:nvSpPr>
          <p:cNvPr id="30" name="Segnaposto testo 12"/>
          <p:cNvSpPr>
            <a:spLocks noGrp="1"/>
          </p:cNvSpPr>
          <p:nvPr>
            <p:ph type="body" sz="quarter" idx="29" hasCustomPrompt="1"/>
          </p:nvPr>
        </p:nvSpPr>
        <p:spPr>
          <a:xfrm>
            <a:off x="2987824" y="5331837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 err="1"/>
              <a:t>Inserire</a:t>
            </a:r>
            <a:r>
              <a:rPr lang="fr-CH" dirty="0"/>
              <a:t> modulo / </a:t>
            </a:r>
            <a:r>
              <a:rPr lang="fr-CH" dirty="0" err="1"/>
              <a:t>Codice</a:t>
            </a:r>
            <a:r>
              <a:rPr lang="fr-CH" dirty="0"/>
              <a:t> </a:t>
            </a:r>
            <a:r>
              <a:rPr lang="fr-CH" dirty="0" err="1"/>
              <a:t>Progetto</a:t>
            </a:r>
            <a:r>
              <a:rPr lang="fr-CH" dirty="0"/>
              <a:t> se </a:t>
            </a:r>
            <a:r>
              <a:rPr lang="fr-CH" dirty="0" err="1"/>
              <a:t>disponibile</a:t>
            </a:r>
            <a:endParaRPr lang="fr-CH" dirty="0"/>
          </a:p>
        </p:txBody>
      </p:sp>
      <p:sp>
        <p:nvSpPr>
          <p:cNvPr id="41" name="Segnaposto testo 12"/>
          <p:cNvSpPr>
            <a:spLocks noGrp="1"/>
          </p:cNvSpPr>
          <p:nvPr>
            <p:ph type="body" sz="quarter" idx="33" hasCustomPrompt="1"/>
          </p:nvPr>
        </p:nvSpPr>
        <p:spPr>
          <a:xfrm>
            <a:off x="2987824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Relatore</a:t>
            </a:r>
          </a:p>
        </p:txBody>
      </p:sp>
      <p:sp>
        <p:nvSpPr>
          <p:cNvPr id="42" name="Segnaposto testo 12"/>
          <p:cNvSpPr>
            <a:spLocks noGrp="1"/>
          </p:cNvSpPr>
          <p:nvPr>
            <p:ph type="body" sz="quarter" idx="34" hasCustomPrompt="1"/>
          </p:nvPr>
        </p:nvSpPr>
        <p:spPr>
          <a:xfrm>
            <a:off x="2987824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nome relatore</a:t>
            </a:r>
          </a:p>
        </p:txBody>
      </p:sp>
      <p:sp>
        <p:nvSpPr>
          <p:cNvPr id="44" name="Segnaposto testo 12"/>
          <p:cNvSpPr>
            <a:spLocks noGrp="1"/>
          </p:cNvSpPr>
          <p:nvPr>
            <p:ph type="body" sz="quarter" idx="36" hasCustomPrompt="1"/>
          </p:nvPr>
        </p:nvSpPr>
        <p:spPr>
          <a:xfrm>
            <a:off x="323528" y="6381328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nome committente</a:t>
            </a:r>
          </a:p>
        </p:txBody>
      </p:sp>
      <p:cxnSp>
        <p:nvCxnSpPr>
          <p:cNvPr id="45" name="Connettore 1 44"/>
          <p:cNvCxnSpPr/>
          <p:nvPr userDrawn="1"/>
        </p:nvCxnSpPr>
        <p:spPr>
          <a:xfrm>
            <a:off x="323528" y="6115709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egnaposto testo 12"/>
          <p:cNvSpPr>
            <a:spLocks noGrp="1"/>
          </p:cNvSpPr>
          <p:nvPr>
            <p:ph type="body" sz="quarter" idx="37" hasCustomPrompt="1"/>
          </p:nvPr>
        </p:nvSpPr>
        <p:spPr>
          <a:xfrm>
            <a:off x="323528" y="6165304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Committente</a:t>
            </a:r>
          </a:p>
        </p:txBody>
      </p:sp>
      <p:sp>
        <p:nvSpPr>
          <p:cNvPr id="49" name="Segnaposto testo 12"/>
          <p:cNvSpPr>
            <a:spLocks noGrp="1"/>
          </p:cNvSpPr>
          <p:nvPr>
            <p:ph type="body" sz="quarter" idx="40" hasCustomPrompt="1"/>
          </p:nvPr>
        </p:nvSpPr>
        <p:spPr>
          <a:xfrm>
            <a:off x="5652120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Anno</a:t>
            </a:r>
          </a:p>
        </p:txBody>
      </p:sp>
      <p:sp>
        <p:nvSpPr>
          <p:cNvPr id="50" name="Segnaposto testo 12"/>
          <p:cNvSpPr>
            <a:spLocks noGrp="1"/>
          </p:cNvSpPr>
          <p:nvPr>
            <p:ph type="body" sz="quarter" idx="41" hasCustomPrompt="1"/>
          </p:nvPr>
        </p:nvSpPr>
        <p:spPr>
          <a:xfrm>
            <a:off x="5652120" y="5331837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anno</a:t>
            </a:r>
          </a:p>
        </p:txBody>
      </p:sp>
      <p:sp>
        <p:nvSpPr>
          <p:cNvPr id="22" name="Segnaposto testo 12"/>
          <p:cNvSpPr>
            <a:spLocks noGrp="1"/>
          </p:cNvSpPr>
          <p:nvPr>
            <p:ph type="body" sz="quarter" idx="42" hasCustomPrompt="1"/>
          </p:nvPr>
        </p:nvSpPr>
        <p:spPr>
          <a:xfrm>
            <a:off x="5652120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Correlatore</a:t>
            </a:r>
          </a:p>
        </p:txBody>
      </p:sp>
      <p:sp>
        <p:nvSpPr>
          <p:cNvPr id="23" name="Segnaposto testo 12"/>
          <p:cNvSpPr>
            <a:spLocks noGrp="1"/>
          </p:cNvSpPr>
          <p:nvPr>
            <p:ph type="body" sz="quarter" idx="43" hasCustomPrompt="1"/>
          </p:nvPr>
        </p:nvSpPr>
        <p:spPr>
          <a:xfrm>
            <a:off x="5652120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nome correlatore</a:t>
            </a:r>
          </a:p>
        </p:txBody>
      </p:sp>
      <p:pic>
        <p:nvPicPr>
          <p:cNvPr id="28" name="Immagine 9" descr="Modulo_SUPSI_DTI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41313" y="179388"/>
            <a:ext cx="4075112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Segnaposto testo 12"/>
          <p:cNvSpPr>
            <a:spLocks noGrp="1"/>
          </p:cNvSpPr>
          <p:nvPr>
            <p:ph type="body" sz="quarter" idx="44" hasCustomPrompt="1"/>
          </p:nvPr>
        </p:nvSpPr>
        <p:spPr>
          <a:xfrm>
            <a:off x="2987824" y="6381328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data</a:t>
            </a:r>
          </a:p>
        </p:txBody>
      </p:sp>
      <p:sp>
        <p:nvSpPr>
          <p:cNvPr id="31" name="Segnaposto testo 12"/>
          <p:cNvSpPr>
            <a:spLocks noGrp="1"/>
          </p:cNvSpPr>
          <p:nvPr>
            <p:ph type="body" sz="quarter" idx="45" hasCustomPrompt="1"/>
          </p:nvPr>
        </p:nvSpPr>
        <p:spPr>
          <a:xfrm>
            <a:off x="2987824" y="6165304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0646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;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2314972"/>
            <a:ext cx="3816424" cy="42484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u="none" baseline="0"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323528" y="1203808"/>
            <a:ext cx="7848872" cy="929048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700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lvl="0"/>
            <a:r>
              <a:rPr lang="fr-CH" dirty="0"/>
              <a:t>Inserisci titolo</a:t>
            </a:r>
          </a:p>
        </p:txBody>
      </p:sp>
    </p:spTree>
    <p:extLst>
      <p:ext uri="{BB962C8B-B14F-4D97-AF65-F5344CB8AC3E}">
        <p14:creationId xmlns:p14="http://schemas.microsoft.com/office/powerpoint/2010/main" val="41559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323528" y="1247552"/>
            <a:ext cx="3816424" cy="532859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8065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testo; 2/3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1247592"/>
            <a:ext cx="2520280" cy="5328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aseline="0"/>
            </a:lvl1pPr>
          </a:lstStyle>
          <a:p>
            <a:pPr lvl="0"/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859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008288"/>
            <a:ext cx="271836" cy="2548961"/>
          </a:xfrm>
          <a:prstGeom prst="rect">
            <a:avLst/>
          </a:prstGeom>
        </p:spPr>
      </p:pic>
      <p:pic>
        <p:nvPicPr>
          <p:cNvPr id="3" name="Immagine 6" descr="logo_SUPSI_acr.gif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6075" y="188640"/>
            <a:ext cx="469900" cy="1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806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41" r:id="rId2"/>
    <p:sldLayoutId id="2147484142" r:id="rId3"/>
    <p:sldLayoutId id="2147484143" r:id="rId4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28" charset="-128"/>
          <a:cs typeface="ＭＳ Ｐゴシック" pitchFamily="-128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28" charset="-128"/>
          <a:cs typeface="ＭＳ Ｐゴシック" pitchFamily="-128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MineSweeper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Yildirim </a:t>
            </a:r>
            <a:r>
              <a:rPr lang="it-IT" dirty="0" err="1"/>
              <a:t>Memet</a:t>
            </a:r>
            <a:r>
              <a:rPr lang="it-IT" dirty="0"/>
              <a:t> Emre</a:t>
            </a:r>
          </a:p>
          <a:p>
            <a:r>
              <a:rPr lang="it-IT" dirty="0" err="1"/>
              <a:t>Xhyra</a:t>
            </a:r>
            <a:r>
              <a:rPr lang="it-IT" dirty="0"/>
              <a:t> Niccolò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 dirty="0"/>
              <a:t>Studente/i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it-IT" dirty="0" err="1"/>
              <a:t>Ingengeria</a:t>
            </a:r>
            <a:r>
              <a:rPr lang="it-IT" dirty="0"/>
              <a:t> Informatica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it-IT" dirty="0"/>
              <a:t>Corso di laurea</a:t>
            </a:r>
          </a:p>
        </p:txBody>
      </p:sp>
      <p:sp>
        <p:nvSpPr>
          <p:cNvPr id="7" name="Segnaposto testo 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it-IT" dirty="0"/>
              <a:t>Modulo / Codice Progetto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it-IT" dirty="0"/>
              <a:t>Software Engineering I</a:t>
            </a:r>
          </a:p>
        </p:txBody>
      </p:sp>
      <p:sp>
        <p:nvSpPr>
          <p:cNvPr id="9" name="Segnaposto tes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it-IT" dirty="0"/>
              <a:t>Relatore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 dirty="0"/>
              <a:t>Giancarlo Corti</a:t>
            </a:r>
          </a:p>
        </p:txBody>
      </p:sp>
      <p:sp>
        <p:nvSpPr>
          <p:cNvPr id="11" name="Segnaposto testo 10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it-IT" sz="1200" dirty="0"/>
              <a:t>Giancarlo Corti, Tommaso </a:t>
            </a:r>
            <a:r>
              <a:rPr lang="it-IT" sz="1200" dirty="0" err="1"/>
              <a:t>Agnola</a:t>
            </a:r>
            <a:endParaRPr lang="it-IT" sz="1200" dirty="0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it-IT" dirty="0"/>
              <a:t>Committente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it-IT" dirty="0"/>
              <a:t>Anno</a:t>
            </a:r>
          </a:p>
        </p:txBody>
      </p:sp>
      <p:sp>
        <p:nvSpPr>
          <p:cNvPr id="14" name="Segnaposto testo 13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it-IT"/>
              <a:t>2024/2025</a:t>
            </a:r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it-IT" dirty="0"/>
              <a:t>Correlatore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it-IT" dirty="0"/>
              <a:t>Tommaso </a:t>
            </a:r>
            <a:r>
              <a:rPr lang="it-IT" dirty="0" err="1"/>
              <a:t>Agnola</a:t>
            </a:r>
            <a:endParaRPr lang="it-IT" dirty="0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it-IT" dirty="0"/>
              <a:t>02.06.2025</a:t>
            </a:r>
          </a:p>
        </p:txBody>
      </p:sp>
      <p:sp>
        <p:nvSpPr>
          <p:cNvPr id="18" name="Segnaposto testo 17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it-IT" dirty="0"/>
              <a:t>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7AE6EC-4E4E-6EA1-399C-DF536B3C7B4D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1095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2B6A22-5DF1-4725-4B69-89EC082562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28" y="2314972"/>
            <a:ext cx="8568952" cy="42484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Context &amp; 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State of 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52B85-8A26-6B56-27E5-57300C5E91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BA5D5-76CE-B860-0183-72B5E2B0F54B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3754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6EB16-FCE7-88E8-4B17-0BC447C15C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877F1BD3-AA99-08F1-95EE-24DFFDDBA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654227"/>
            <a:ext cx="3816424" cy="4705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559558-15CA-7903-6C72-065769799BFF}"/>
              </a:ext>
            </a:extLst>
          </p:cNvPr>
          <p:cNvSpPr txBox="1"/>
          <p:nvPr/>
        </p:nvSpPr>
        <p:spPr>
          <a:xfrm>
            <a:off x="395536" y="2420888"/>
            <a:ext cx="30963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Desktop GUI application development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Software Engineering Principles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91534-17B4-B9A1-F27B-9135644720CE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93492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4B9-0510-3F8F-F01E-609493282C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5BCFA-7D89-3DA4-72C3-6AC1D2132AAF}"/>
              </a:ext>
            </a:extLst>
          </p:cNvPr>
          <p:cNvSpPr txBox="1"/>
          <p:nvPr/>
        </p:nvSpPr>
        <p:spPr>
          <a:xfrm>
            <a:off x="395536" y="2420888"/>
            <a:ext cx="33123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Java </a:t>
            </a:r>
          </a:p>
          <a:p>
            <a:r>
              <a:rPr lang="en-US" dirty="0"/>
              <a:t>Object-Oriented-Programming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Interactive UI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12945960-EE21-B544-7FE3-24BB777AA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654227"/>
            <a:ext cx="3816424" cy="4705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298334-1365-369C-13E9-C28864434386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80647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85CC0-4350-7EAF-973F-B54FE5067B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8C246-E161-66D7-6DE3-738706EDD58C}"/>
              </a:ext>
            </a:extLst>
          </p:cNvPr>
          <p:cNvSpPr txBox="1"/>
          <p:nvPr/>
        </p:nvSpPr>
        <p:spPr>
          <a:xfrm>
            <a:off x="395536" y="2420888"/>
            <a:ext cx="30963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 </a:t>
            </a:r>
            <a:r>
              <a:rPr lang="en-US" dirty="0" err="1"/>
              <a:t>MineSweeper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Allow Setting Customization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Persistence Saving-Loading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BF3D7-750C-78E2-C94A-68290BEDFFEC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3E75B70-4607-D223-67C7-E5B4CB530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"/>
          <a:stretch>
            <a:fillRect/>
          </a:stretch>
        </p:blipFill>
        <p:spPr bwMode="auto">
          <a:xfrm>
            <a:off x="3779912" y="620688"/>
            <a:ext cx="4536504" cy="54938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209C4-08AA-6A3D-85BB-2FCD33228E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97977-AC4B-BB41-99AD-C15E44D4AAD2}"/>
              </a:ext>
            </a:extLst>
          </p:cNvPr>
          <p:cNvSpPr txBox="1"/>
          <p:nvPr/>
        </p:nvSpPr>
        <p:spPr>
          <a:xfrm>
            <a:off x="395536" y="1953041"/>
            <a:ext cx="7920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Interactive gameplay			Save and Load feature</a:t>
            </a:r>
          </a:p>
          <a:p>
            <a:endParaRPr lang="en-US" dirty="0"/>
          </a:p>
          <a:p>
            <a:r>
              <a:rPr lang="en-US" dirty="0"/>
              <a:t>Menu and Cold reloaded Preferences	Multiple Language Support</a:t>
            </a:r>
          </a:p>
          <a:p>
            <a:endParaRPr lang="en-US" dirty="0"/>
          </a:p>
          <a:p>
            <a:r>
              <a:rPr lang="en-US" dirty="0"/>
              <a:t>Multi Module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D4C6E98-E87A-543A-3E54-C42EA880B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052736"/>
            <a:ext cx="4305402" cy="7550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A97A1F8-4645-170D-D3FA-5E21E58AC2F4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pic>
        <p:nvPicPr>
          <p:cNvPr id="5" name="Picture 4" descr="A diagram of a person playing a game&#10;&#10;AI-generated content may be incorrect.">
            <a:extLst>
              <a:ext uri="{FF2B5EF4-FFF2-40B4-BE49-F238E27FC236}">
                <a16:creationId xmlns:a16="http://schemas.microsoft.com/office/drawing/2014/main" id="{B91C3454-B755-C3D7-3D1C-4EC92B9DF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49" y="3595252"/>
            <a:ext cx="7682550" cy="30988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953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AD9B3-EAB3-9029-E6CA-8E6B0BD212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State of art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D0DBE978-17E2-7C5B-E974-D2F25ACD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2132856"/>
            <a:ext cx="4365615" cy="23042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704970-0DC1-6CF9-DE39-ABEA9CA37EB4}"/>
              </a:ext>
            </a:extLst>
          </p:cNvPr>
          <p:cNvSpPr txBox="1"/>
          <p:nvPr/>
        </p:nvSpPr>
        <p:spPr>
          <a:xfrm>
            <a:off x="395536" y="2420888"/>
            <a:ext cx="33843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Microsoft </a:t>
            </a:r>
            <a:r>
              <a:rPr lang="en-US" dirty="0" err="1"/>
              <a:t>MineSweeper</a:t>
            </a:r>
            <a:r>
              <a:rPr lang="en-US" dirty="0"/>
              <a:t> 90’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Web Versions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Open source Java Versions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Modern UI Platform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B08748-99D7-E4B4-7B57-2AE5255536C6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9417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9F525-D075-692C-9A45-DBEE014F78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F7A7D-F71B-0994-A9A6-F0DF374D09ED}"/>
              </a:ext>
            </a:extLst>
          </p:cNvPr>
          <p:cNvSpPr txBox="1"/>
          <p:nvPr/>
        </p:nvSpPr>
        <p:spPr>
          <a:xfrm>
            <a:off x="395536" y="2420888"/>
            <a:ext cx="76328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 17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GitLab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version control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Maven </a:t>
            </a:r>
            <a:r>
              <a:rPr lang="en-US" dirty="0">
                <a:sym typeface="Wingdings" pitchFamily="2" charset="2"/>
              </a:rPr>
              <a:t> dependencies management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Iterative incremental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20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5E24B-DCA8-C0C0-4DB8-905533CE4D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E73CB-C231-B7C5-5B33-2E5E2E197178}"/>
              </a:ext>
            </a:extLst>
          </p:cNvPr>
          <p:cNvSpPr txBox="1"/>
          <p:nvPr/>
        </p:nvSpPr>
        <p:spPr>
          <a:xfrm>
            <a:off x="395536" y="2420888"/>
            <a:ext cx="76328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Model: Game Logic (</a:t>
            </a:r>
            <a:r>
              <a:rPr lang="en-US" dirty="0" err="1">
                <a:sym typeface="Wingdings" pitchFamily="2" charset="2"/>
              </a:rPr>
              <a:t>GameModel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View: UI JavaFX in FXML (</a:t>
            </a:r>
            <a:r>
              <a:rPr lang="en-US" dirty="0" err="1">
                <a:sym typeface="Wingdings" pitchFamily="2" charset="2"/>
              </a:rPr>
              <a:t>MenuBar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GameBoard</a:t>
            </a:r>
            <a:r>
              <a:rPr lang="en-US" dirty="0">
                <a:sym typeface="Wingdings" pitchFamily="2" charset="2"/>
              </a:rPr>
              <a:t>, Feedback)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Controller: </a:t>
            </a:r>
            <a:r>
              <a:rPr lang="en-US" dirty="0" err="1">
                <a:sym typeface="Wingdings" pitchFamily="2" charset="2"/>
              </a:rPr>
              <a:t>GameController</a:t>
            </a:r>
            <a:r>
              <a:rPr lang="en-US" dirty="0">
                <a:sym typeface="Wingdings" pitchFamily="2" charset="2"/>
              </a:rPr>
              <a:t> unifies game events and user input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8F730-4163-4210-4D57-3AAEFB8630F4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74967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253BC-6C3E-D6B7-959A-099A5793A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E24A0-940A-4D2F-7888-2676209F7237}"/>
              </a:ext>
            </a:extLst>
          </p:cNvPr>
          <p:cNvSpPr txBox="1"/>
          <p:nvPr/>
        </p:nvSpPr>
        <p:spPr>
          <a:xfrm>
            <a:off x="8820472" y="6417096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06BFB0E-2D5E-EF79-3A42-80589B3583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9" t="8418" r="2363" b="15651"/>
          <a:stretch>
            <a:fillRect/>
          </a:stretch>
        </p:blipFill>
        <p:spPr bwMode="auto">
          <a:xfrm>
            <a:off x="491547" y="3140968"/>
            <a:ext cx="7680853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79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36A4B-6BFD-2F56-1CC1-56090A7EBF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pic>
        <p:nvPicPr>
          <p:cNvPr id="7" name="Picture 6" descr="A diagram of a game&#10;&#10;AI-generated content may be incorrect.">
            <a:extLst>
              <a:ext uri="{FF2B5EF4-FFF2-40B4-BE49-F238E27FC236}">
                <a16:creationId xmlns:a16="http://schemas.microsoft.com/office/drawing/2014/main" id="{791AC3BD-7E2A-77D1-5E0B-C9A55DF3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0" b="4850"/>
          <a:stretch>
            <a:fillRect/>
          </a:stretch>
        </p:blipFill>
        <p:spPr>
          <a:xfrm>
            <a:off x="488469" y="1628800"/>
            <a:ext cx="7649925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67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F7403-4ABF-AAF4-9DE1-3B05BB59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08E82A-98C7-88A1-F4CB-B614464BB9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528" y="1203808"/>
            <a:ext cx="7848872" cy="5393544"/>
          </a:xfrm>
        </p:spPr>
        <p:txBody>
          <a:bodyPr/>
          <a:lstStyle/>
          <a:p>
            <a:pPr algn="ctr"/>
            <a:endParaRPr lang="it-IT" sz="4400" dirty="0"/>
          </a:p>
          <a:p>
            <a:pPr algn="ctr"/>
            <a:endParaRPr lang="it-IT" sz="4400" dirty="0"/>
          </a:p>
          <a:p>
            <a:pPr algn="ctr"/>
            <a:r>
              <a:rPr lang="it-IT" sz="4400" dirty="0"/>
              <a:t>Demo</a:t>
            </a:r>
          </a:p>
          <a:p>
            <a:endParaRPr lang="it-IT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928DE-0530-8D3E-DE63-BEF0C17C2CD2}"/>
              </a:ext>
            </a:extLst>
          </p:cNvPr>
          <p:cNvSpPr txBox="1"/>
          <p:nvPr/>
        </p:nvSpPr>
        <p:spPr>
          <a:xfrm>
            <a:off x="8820472" y="6417096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17694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9D62F-EA90-041F-08A2-75ED7760E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E793B-FADF-FC25-D439-2A231BC80BF1}"/>
              </a:ext>
            </a:extLst>
          </p:cNvPr>
          <p:cNvSpPr txBox="1"/>
          <p:nvPr/>
        </p:nvSpPr>
        <p:spPr>
          <a:xfrm>
            <a:off x="8820472" y="6417096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</a:t>
            </a:r>
          </a:p>
        </p:txBody>
      </p:sp>
      <p:pic>
        <p:nvPicPr>
          <p:cNvPr id="9" name="Picture 8" descr="A red and black sign&#10;&#10;AI-generated content may be incorrect.">
            <a:extLst>
              <a:ext uri="{FF2B5EF4-FFF2-40B4-BE49-F238E27FC236}">
                <a16:creationId xmlns:a16="http://schemas.microsoft.com/office/drawing/2014/main" id="{B1B26ADA-AE10-06B2-5657-BB3363F55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1801027"/>
            <a:ext cx="3825044" cy="38250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B8A1A6-0940-0AD6-EDF0-33E3EBF10D43}"/>
              </a:ext>
            </a:extLst>
          </p:cNvPr>
          <p:cNvSpPr txBox="1"/>
          <p:nvPr/>
        </p:nvSpPr>
        <p:spPr>
          <a:xfrm>
            <a:off x="395536" y="2420888"/>
            <a:ext cx="7560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TeamWork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Upgradability</a:t>
            </a:r>
          </a:p>
        </p:txBody>
      </p:sp>
    </p:spTree>
    <p:extLst>
      <p:ext uri="{BB962C8B-B14F-4D97-AF65-F5344CB8AC3E}">
        <p14:creationId xmlns:p14="http://schemas.microsoft.com/office/powerpoint/2010/main" val="41848746"/>
      </p:ext>
    </p:extLst>
  </p:cSld>
  <p:clrMapOvr>
    <a:masterClrMapping/>
  </p:clrMapOvr>
</p:sld>
</file>

<file path=ppt/theme/theme1.xml><?xml version="1.0" encoding="utf-8"?>
<a:theme xmlns:a="http://schemas.openxmlformats.org/drawingml/2006/main" name="PPT_StudentKit_DTI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PPT_StudentKit_DTI</Template>
  <TotalTime>9118</TotalTime>
  <Words>226</Words>
  <Application>Microsoft Macintosh PowerPoint</Application>
  <PresentationFormat>On-screen Show (4:3)</PresentationFormat>
  <Paragraphs>130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gg sans</vt:lpstr>
      <vt:lpstr>Times New Roman</vt:lpstr>
      <vt:lpstr>Wingdings</vt:lpstr>
      <vt:lpstr>PPT_StudentKit_DTI</vt:lpstr>
      <vt:lpstr>MineSweeper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SUPSI-DTI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giofre</dc:creator>
  <cp:lastModifiedBy>Xhyra Niccolò</cp:lastModifiedBy>
  <cp:revision>16</cp:revision>
  <cp:lastPrinted>2012-05-23T12:47:14Z</cp:lastPrinted>
  <dcterms:created xsi:type="dcterms:W3CDTF">2012-06-06T06:29:02Z</dcterms:created>
  <dcterms:modified xsi:type="dcterms:W3CDTF">2025-06-02T10:36:56Z</dcterms:modified>
</cp:coreProperties>
</file>