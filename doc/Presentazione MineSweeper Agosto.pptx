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39" r:id="rId1"/>
  </p:sldMasterIdLst>
  <p:notesMasterIdLst>
    <p:notesMasterId r:id="rId15"/>
  </p:notesMasterIdLst>
  <p:handoutMasterIdLst>
    <p:handoutMasterId r:id="rId16"/>
  </p:handoutMasterIdLst>
  <p:sldIdLst>
    <p:sldId id="268" r:id="rId2"/>
    <p:sldId id="269" r:id="rId3"/>
    <p:sldId id="270" r:id="rId4"/>
    <p:sldId id="277" r:id="rId5"/>
    <p:sldId id="271" r:id="rId6"/>
    <p:sldId id="279" r:id="rId7"/>
    <p:sldId id="282" r:id="rId8"/>
    <p:sldId id="280" r:id="rId9"/>
    <p:sldId id="284" r:id="rId10"/>
    <p:sldId id="281" r:id="rId11"/>
    <p:sldId id="283" r:id="rId12"/>
    <p:sldId id="274" r:id="rId13"/>
    <p:sldId id="278" r:id="rId14"/>
  </p:sldIdLst>
  <p:sldSz cx="9144000" cy="6858000" type="screen4x3"/>
  <p:notesSz cx="6858000" cy="9144000"/>
  <p:defaultTextStyle>
    <a:defPPr>
      <a:defRPr lang="it-IT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104" autoAdjust="0"/>
    <p:restoredTop sz="94497" autoAdjust="0"/>
  </p:normalViewPr>
  <p:slideViewPr>
    <p:cSldViewPr>
      <p:cViewPr varScale="1">
        <p:scale>
          <a:sx n="159" d="100"/>
          <a:sy n="159" d="100"/>
        </p:scale>
        <p:origin x="2176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9388A7-5429-7442-BD81-798B3F4B5BE0}" type="datetime1">
              <a:rPr lang="it-IT"/>
              <a:pPr/>
              <a:t>25/08/25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3144663-F296-154C-879B-F265E0A1929F}" type="slidenum">
              <a:rPr lang="it-IT"/>
              <a:pPr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6376232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noProof="0"/>
              <a:t>Click to edit Master text styles</a:t>
            </a:r>
          </a:p>
          <a:p>
            <a:pPr lvl="1"/>
            <a:r>
              <a:rPr lang="it-IT" noProof="0"/>
              <a:t>Second level</a:t>
            </a:r>
          </a:p>
          <a:p>
            <a:pPr lvl="2"/>
            <a:r>
              <a:rPr lang="it-IT" noProof="0"/>
              <a:t>Third level</a:t>
            </a:r>
          </a:p>
          <a:p>
            <a:pPr lvl="3"/>
            <a:r>
              <a:rPr lang="it-IT" noProof="0"/>
              <a:t>Fourth level</a:t>
            </a:r>
          </a:p>
          <a:p>
            <a:pPr lvl="4"/>
            <a:r>
              <a:rPr lang="it-IT" noProof="0"/>
              <a:t>Fifth level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F6425F76-5FCB-3E42-9F4B-C72054CFC5AB}" type="slidenum">
              <a:rPr lang="it-IT"/>
              <a:pPr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0759884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2" charset="0"/>
        <a:ea typeface="ＭＳ Ｐゴシック" pitchFamily="-112" charset="-128"/>
        <a:cs typeface="ＭＳ Ｐゴシック" pitchFamily="-112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2" charset="0"/>
        <a:ea typeface="ＭＳ Ｐゴシック" pitchFamily="-112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2" charset="0"/>
        <a:ea typeface="ＭＳ Ｐゴシック" pitchFamily="-112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2" charset="0"/>
        <a:ea typeface="ＭＳ Ｐゴシック" pitchFamily="-112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2" charset="0"/>
        <a:ea typeface="ＭＳ Ｐゴシック" pitchFamily="-112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Saluti, </a:t>
            </a:r>
            <a:r>
              <a:rPr lang="en-US" dirty="0" err="1"/>
              <a:t>presenteremo</a:t>
            </a:r>
            <a:r>
              <a:rPr lang="en-US" dirty="0"/>
              <a:t>…, nostril </a:t>
            </a:r>
            <a:r>
              <a:rPr lang="en-US" dirty="0" err="1"/>
              <a:t>nomi</a:t>
            </a:r>
            <a:r>
              <a:rPr lang="en-US" dirty="0"/>
              <a:t>, </a:t>
            </a:r>
            <a:r>
              <a:rPr lang="en-US" dirty="0" err="1"/>
              <a:t>materia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425F76-5FCB-3E42-9F4B-C72054CFC5AB}" type="slidenum">
              <a:rPr lang="it-IT" smtClean="0"/>
              <a:pPr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74862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Parleremo</a:t>
            </a:r>
            <a:r>
              <a:rPr lang="en-US" dirty="0"/>
              <a:t> </a:t>
            </a:r>
            <a:r>
              <a:rPr lang="en-US" dirty="0" err="1"/>
              <a:t>dei</a:t>
            </a:r>
            <a:r>
              <a:rPr lang="en-US" dirty="0"/>
              <a:t> </a:t>
            </a:r>
            <a:r>
              <a:rPr lang="en-US" dirty="0" err="1"/>
              <a:t>punti</a:t>
            </a:r>
            <a:r>
              <a:rPr lang="en-US" dirty="0"/>
              <a:t>,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425F76-5FCB-3E42-9F4B-C72054CFC5AB}" type="slidenum">
              <a:rPr lang="it-IT" smtClean="0"/>
              <a:pPr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293181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Future Development: multiple language support, graphical changes, (</a:t>
            </a:r>
            <a:r>
              <a:rPr lang="en-US" b="0" i="0" dirty="0">
                <a:effectLst/>
                <a:latin typeface="gg sans"/>
              </a:rPr>
              <a:t>• </a:t>
            </a:r>
            <a:r>
              <a:rPr lang="en-US" b="0" i="0" dirty="0" err="1">
                <a:effectLst/>
                <a:latin typeface="gg sans"/>
              </a:rPr>
              <a:t>Mancanza</a:t>
            </a:r>
            <a:r>
              <a:rPr lang="en-US" b="0" i="0" dirty="0">
                <a:effectLst/>
                <a:latin typeface="gg sans"/>
              </a:rPr>
              <a:t> di </a:t>
            </a:r>
            <a:r>
              <a:rPr lang="en-US" b="0" i="0" dirty="0" err="1">
                <a:effectLst/>
                <a:latin typeface="gg sans"/>
              </a:rPr>
              <a:t>gestione</a:t>
            </a:r>
            <a:r>
              <a:rPr lang="en-US" b="0" i="0" dirty="0">
                <a:effectLst/>
                <a:latin typeface="gg sans"/>
              </a:rPr>
              <a:t> </a:t>
            </a:r>
            <a:r>
              <a:rPr lang="en-US" b="0" i="0" dirty="0" err="1">
                <a:effectLst/>
                <a:latin typeface="gg sans"/>
              </a:rPr>
              <a:t>centralizzata</a:t>
            </a:r>
            <a:r>
              <a:rPr lang="en-US" b="0" i="0" dirty="0">
                <a:effectLst/>
                <a:latin typeface="gg sans"/>
              </a:rPr>
              <a:t> di </a:t>
            </a:r>
            <a:r>
              <a:rPr lang="en-US" b="0" i="0" dirty="0" err="1">
                <a:effectLst/>
                <a:latin typeface="gg sans"/>
              </a:rPr>
              <a:t>salvataggi</a:t>
            </a:r>
            <a:r>
              <a:rPr lang="en-US" b="0" i="0" dirty="0">
                <a:effectLst/>
                <a:latin typeface="gg sans"/>
              </a:rPr>
              <a:t> e </a:t>
            </a:r>
            <a:r>
              <a:rPr lang="en-US" b="0" i="0" dirty="0" err="1">
                <a:effectLst/>
                <a:latin typeface="gg sans"/>
              </a:rPr>
              <a:t>preferenze</a:t>
            </a:r>
            <a:r>
              <a:rPr lang="en-US" b="0" i="0" dirty="0">
                <a:effectLst/>
                <a:latin typeface="gg sans"/>
              </a:rPr>
              <a:t> cross-platform • </a:t>
            </a:r>
            <a:r>
              <a:rPr lang="en-US" b="0" i="0" dirty="0" err="1">
                <a:effectLst/>
                <a:latin typeface="gg sans"/>
              </a:rPr>
              <a:t>Scarso</a:t>
            </a:r>
            <a:r>
              <a:rPr lang="en-US" b="0" i="0" dirty="0">
                <a:effectLst/>
                <a:latin typeface="gg sans"/>
              </a:rPr>
              <a:t> </a:t>
            </a:r>
            <a:r>
              <a:rPr lang="en-US" b="0" i="0" dirty="0" err="1">
                <a:effectLst/>
                <a:latin typeface="gg sans"/>
              </a:rPr>
              <a:t>supporto</a:t>
            </a:r>
            <a:r>
              <a:rPr lang="en-US" b="0" i="0" dirty="0">
                <a:effectLst/>
                <a:latin typeface="gg sans"/>
              </a:rPr>
              <a:t> all’i18n (</a:t>
            </a:r>
            <a:r>
              <a:rPr lang="en-US" b="0" i="0" dirty="0" err="1">
                <a:effectLst/>
                <a:latin typeface="gg sans"/>
              </a:rPr>
              <a:t>multilingua</a:t>
            </a:r>
            <a:r>
              <a:rPr lang="en-US" b="0" i="0" dirty="0">
                <a:effectLst/>
                <a:latin typeface="gg sans"/>
              </a:rPr>
              <a:t>) • </a:t>
            </a:r>
            <a:r>
              <a:rPr lang="en-US" b="0" i="0" dirty="0" err="1">
                <a:effectLst/>
                <a:latin typeface="gg sans"/>
              </a:rPr>
              <a:t>Interfaccia</a:t>
            </a:r>
            <a:r>
              <a:rPr lang="en-US" b="0" i="0" dirty="0">
                <a:effectLst/>
                <a:latin typeface="gg sans"/>
              </a:rPr>
              <a:t> “classic” poco </a:t>
            </a:r>
            <a:r>
              <a:rPr lang="en-US" b="0" i="0" dirty="0" err="1">
                <a:effectLst/>
                <a:latin typeface="gg sans"/>
              </a:rPr>
              <a:t>estensibile</a:t>
            </a:r>
            <a:r>
              <a:rPr lang="en-US" b="0" i="0" dirty="0">
                <a:effectLst/>
                <a:latin typeface="gg sans"/>
              </a:rPr>
              <a:t> a </a:t>
            </a:r>
            <a:r>
              <a:rPr lang="en-US" b="0" i="0" dirty="0" err="1">
                <a:effectLst/>
                <a:latin typeface="gg sans"/>
              </a:rPr>
              <a:t>temi</a:t>
            </a:r>
            <a:r>
              <a:rPr lang="en-US" b="0" i="0" dirty="0">
                <a:effectLst/>
                <a:latin typeface="gg sans"/>
              </a:rPr>
              <a:t> e </a:t>
            </a:r>
            <a:r>
              <a:rPr lang="en-US" b="0" i="0" dirty="0" err="1">
                <a:effectLst/>
                <a:latin typeface="gg sans"/>
              </a:rPr>
              <a:t>configurazioni</a:t>
            </a:r>
            <a:r>
              <a:rPr lang="en-US" b="0" i="0" dirty="0">
                <a:effectLst/>
                <a:latin typeface="gg sans"/>
              </a:rPr>
              <a:t>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425F76-5FCB-3E42-9F4B-C72054CFC5AB}" type="slidenum">
              <a:rPr lang="it-IT" smtClean="0"/>
              <a:pPr/>
              <a:t>13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965721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ima pagi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323850" y="1700808"/>
            <a:ext cx="7848550" cy="1944216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ct val="100000"/>
              </a:lnSpc>
              <a:defRPr sz="4200" baseline="0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fr-CH" dirty="0"/>
              <a:t>Inserisci titolo</a:t>
            </a:r>
            <a:endParaRPr lang="it-IT" dirty="0"/>
          </a:p>
        </p:txBody>
      </p:sp>
      <p:sp>
        <p:nvSpPr>
          <p:cNvPr id="6" name="Segnaposto testo 12"/>
          <p:cNvSpPr>
            <a:spLocks noGrp="1"/>
          </p:cNvSpPr>
          <p:nvPr>
            <p:ph type="body" sz="quarter" idx="13" hasCustomPrompt="1"/>
          </p:nvPr>
        </p:nvSpPr>
        <p:spPr>
          <a:xfrm>
            <a:off x="323528" y="4278154"/>
            <a:ext cx="2520280" cy="504056"/>
          </a:xfrm>
          <a:prstGeom prst="rect">
            <a:avLst/>
          </a:prstGeom>
        </p:spPr>
        <p:txBody>
          <a:bodyPr lIns="0" tIns="0" rIns="0" bIns="0"/>
          <a:lstStyle>
            <a:lvl1pPr marL="342900" marR="0" indent="-342900" algn="l" defTabSz="4572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1400" baseline="0"/>
            </a:lvl1pPr>
          </a:lstStyle>
          <a:p>
            <a:pPr lvl="0"/>
            <a:r>
              <a:rPr lang="fr-CH" dirty="0"/>
              <a:t>Inserire nome studente</a:t>
            </a:r>
          </a:p>
        </p:txBody>
      </p:sp>
      <p:cxnSp>
        <p:nvCxnSpPr>
          <p:cNvPr id="11" name="Connettore 1 10"/>
          <p:cNvCxnSpPr/>
          <p:nvPr userDrawn="1"/>
        </p:nvCxnSpPr>
        <p:spPr>
          <a:xfrm>
            <a:off x="323528" y="4012535"/>
            <a:ext cx="7848872" cy="0"/>
          </a:xfrm>
          <a:prstGeom prst="line">
            <a:avLst/>
          </a:prstGeom>
          <a:ln w="6350" cmpd="sng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egnaposto testo 12"/>
          <p:cNvSpPr>
            <a:spLocks noGrp="1"/>
          </p:cNvSpPr>
          <p:nvPr>
            <p:ph type="body" sz="quarter" idx="17" hasCustomPrompt="1"/>
          </p:nvPr>
        </p:nvSpPr>
        <p:spPr>
          <a:xfrm>
            <a:off x="323528" y="4062130"/>
            <a:ext cx="2520280" cy="144016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buNone/>
              <a:defRPr sz="800" baseline="0"/>
            </a:lvl1pPr>
          </a:lstStyle>
          <a:p>
            <a:pPr lvl="0"/>
            <a:r>
              <a:rPr lang="fr-CH" dirty="0"/>
              <a:t>Studente/i</a:t>
            </a:r>
          </a:p>
        </p:txBody>
      </p:sp>
      <p:sp>
        <p:nvSpPr>
          <p:cNvPr id="24" name="Segnaposto testo 12"/>
          <p:cNvSpPr>
            <a:spLocks noGrp="1"/>
          </p:cNvSpPr>
          <p:nvPr>
            <p:ph type="body" sz="quarter" idx="24" hasCustomPrompt="1"/>
          </p:nvPr>
        </p:nvSpPr>
        <p:spPr>
          <a:xfrm>
            <a:off x="323528" y="5331837"/>
            <a:ext cx="2520280" cy="504056"/>
          </a:xfrm>
          <a:prstGeom prst="rect">
            <a:avLst/>
          </a:prstGeom>
        </p:spPr>
        <p:txBody>
          <a:bodyPr lIns="0" tIns="0" rIns="0" bIns="0"/>
          <a:lstStyle>
            <a:lvl1pPr marL="342900" marR="0" indent="-342900" algn="l" defTabSz="4572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1400" baseline="0"/>
            </a:lvl1pPr>
          </a:lstStyle>
          <a:p>
            <a:pPr lvl="0"/>
            <a:r>
              <a:rPr lang="fr-CH" dirty="0"/>
              <a:t>Inserire corso di laurea</a:t>
            </a:r>
          </a:p>
        </p:txBody>
      </p:sp>
      <p:cxnSp>
        <p:nvCxnSpPr>
          <p:cNvPr id="25" name="Connettore 1 24"/>
          <p:cNvCxnSpPr/>
          <p:nvPr userDrawn="1"/>
        </p:nvCxnSpPr>
        <p:spPr>
          <a:xfrm>
            <a:off x="323528" y="5066218"/>
            <a:ext cx="7848872" cy="0"/>
          </a:xfrm>
          <a:prstGeom prst="line">
            <a:avLst/>
          </a:prstGeom>
          <a:ln w="6350" cmpd="sng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Segnaposto testo 12"/>
          <p:cNvSpPr>
            <a:spLocks noGrp="1"/>
          </p:cNvSpPr>
          <p:nvPr>
            <p:ph type="body" sz="quarter" idx="25" hasCustomPrompt="1"/>
          </p:nvPr>
        </p:nvSpPr>
        <p:spPr>
          <a:xfrm>
            <a:off x="323528" y="5115813"/>
            <a:ext cx="2520280" cy="144016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buNone/>
              <a:defRPr sz="800" baseline="0"/>
            </a:lvl1pPr>
          </a:lstStyle>
          <a:p>
            <a:pPr lvl="0"/>
            <a:r>
              <a:rPr lang="fr-CH" dirty="0"/>
              <a:t>Corso di laurea</a:t>
            </a:r>
          </a:p>
        </p:txBody>
      </p:sp>
      <p:sp>
        <p:nvSpPr>
          <p:cNvPr id="27" name="Segnaposto testo 12"/>
          <p:cNvSpPr>
            <a:spLocks noGrp="1"/>
          </p:cNvSpPr>
          <p:nvPr>
            <p:ph type="body" sz="quarter" idx="26" hasCustomPrompt="1"/>
          </p:nvPr>
        </p:nvSpPr>
        <p:spPr>
          <a:xfrm>
            <a:off x="2987824" y="5115813"/>
            <a:ext cx="2520280" cy="144016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buNone/>
              <a:defRPr sz="800" baseline="0"/>
            </a:lvl1pPr>
          </a:lstStyle>
          <a:p>
            <a:pPr lvl="0"/>
            <a:r>
              <a:rPr lang="fr-CH" dirty="0"/>
              <a:t>Modulo / </a:t>
            </a:r>
            <a:r>
              <a:rPr lang="fr-CH" dirty="0" err="1"/>
              <a:t>Codice</a:t>
            </a:r>
            <a:r>
              <a:rPr lang="fr-CH" dirty="0"/>
              <a:t> </a:t>
            </a:r>
            <a:r>
              <a:rPr lang="fr-CH" dirty="0" err="1"/>
              <a:t>Progetto</a:t>
            </a:r>
            <a:endParaRPr lang="fr-CH" dirty="0"/>
          </a:p>
        </p:txBody>
      </p:sp>
      <p:sp>
        <p:nvSpPr>
          <p:cNvPr id="30" name="Segnaposto testo 12"/>
          <p:cNvSpPr>
            <a:spLocks noGrp="1"/>
          </p:cNvSpPr>
          <p:nvPr>
            <p:ph type="body" sz="quarter" idx="29" hasCustomPrompt="1"/>
          </p:nvPr>
        </p:nvSpPr>
        <p:spPr>
          <a:xfrm>
            <a:off x="2987824" y="5331837"/>
            <a:ext cx="2520280" cy="504056"/>
          </a:xfrm>
          <a:prstGeom prst="rect">
            <a:avLst/>
          </a:prstGeom>
        </p:spPr>
        <p:txBody>
          <a:bodyPr lIns="0" tIns="0" rIns="0" bIns="0"/>
          <a:lstStyle>
            <a:lvl1pPr algn="l">
              <a:buNone/>
              <a:defRPr sz="1400" baseline="0"/>
            </a:lvl1pPr>
          </a:lstStyle>
          <a:p>
            <a:pPr lvl="0"/>
            <a:r>
              <a:rPr lang="fr-CH" dirty="0" err="1"/>
              <a:t>Inserire</a:t>
            </a:r>
            <a:r>
              <a:rPr lang="fr-CH" dirty="0"/>
              <a:t> modulo / </a:t>
            </a:r>
            <a:r>
              <a:rPr lang="fr-CH" dirty="0" err="1"/>
              <a:t>Codice</a:t>
            </a:r>
            <a:r>
              <a:rPr lang="fr-CH" dirty="0"/>
              <a:t> </a:t>
            </a:r>
            <a:r>
              <a:rPr lang="fr-CH" dirty="0" err="1"/>
              <a:t>Progetto</a:t>
            </a:r>
            <a:r>
              <a:rPr lang="fr-CH" dirty="0"/>
              <a:t> se </a:t>
            </a:r>
            <a:r>
              <a:rPr lang="fr-CH" dirty="0" err="1"/>
              <a:t>disponibile</a:t>
            </a:r>
            <a:endParaRPr lang="fr-CH" dirty="0"/>
          </a:p>
        </p:txBody>
      </p:sp>
      <p:sp>
        <p:nvSpPr>
          <p:cNvPr id="41" name="Segnaposto testo 12"/>
          <p:cNvSpPr>
            <a:spLocks noGrp="1"/>
          </p:cNvSpPr>
          <p:nvPr>
            <p:ph type="body" sz="quarter" idx="33" hasCustomPrompt="1"/>
          </p:nvPr>
        </p:nvSpPr>
        <p:spPr>
          <a:xfrm>
            <a:off x="2987824" y="4062130"/>
            <a:ext cx="2520280" cy="144016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buNone/>
              <a:defRPr sz="800" baseline="0"/>
            </a:lvl1pPr>
          </a:lstStyle>
          <a:p>
            <a:pPr lvl="0"/>
            <a:r>
              <a:rPr lang="fr-CH" dirty="0"/>
              <a:t>Relatore</a:t>
            </a:r>
          </a:p>
        </p:txBody>
      </p:sp>
      <p:sp>
        <p:nvSpPr>
          <p:cNvPr id="42" name="Segnaposto testo 12"/>
          <p:cNvSpPr>
            <a:spLocks noGrp="1"/>
          </p:cNvSpPr>
          <p:nvPr>
            <p:ph type="body" sz="quarter" idx="34" hasCustomPrompt="1"/>
          </p:nvPr>
        </p:nvSpPr>
        <p:spPr>
          <a:xfrm>
            <a:off x="2987824" y="4278154"/>
            <a:ext cx="2520280" cy="504056"/>
          </a:xfrm>
          <a:prstGeom prst="rect">
            <a:avLst/>
          </a:prstGeom>
        </p:spPr>
        <p:txBody>
          <a:bodyPr lIns="0" tIns="0" rIns="0" bIns="0"/>
          <a:lstStyle>
            <a:lvl1pPr algn="l">
              <a:buNone/>
              <a:defRPr sz="1400" baseline="0"/>
            </a:lvl1pPr>
          </a:lstStyle>
          <a:p>
            <a:pPr lvl="0"/>
            <a:r>
              <a:rPr lang="fr-CH" dirty="0"/>
              <a:t>Inserire nome relatore</a:t>
            </a:r>
          </a:p>
        </p:txBody>
      </p:sp>
      <p:sp>
        <p:nvSpPr>
          <p:cNvPr id="44" name="Segnaposto testo 12"/>
          <p:cNvSpPr>
            <a:spLocks noGrp="1"/>
          </p:cNvSpPr>
          <p:nvPr>
            <p:ph type="body" sz="quarter" idx="36" hasCustomPrompt="1"/>
          </p:nvPr>
        </p:nvSpPr>
        <p:spPr>
          <a:xfrm>
            <a:off x="323528" y="6381328"/>
            <a:ext cx="2520280" cy="216024"/>
          </a:xfrm>
          <a:prstGeom prst="rect">
            <a:avLst/>
          </a:prstGeom>
        </p:spPr>
        <p:txBody>
          <a:bodyPr lIns="0" tIns="0" rIns="0" bIns="0"/>
          <a:lstStyle>
            <a:lvl1pPr algn="l">
              <a:buNone/>
              <a:defRPr sz="1400" baseline="0"/>
            </a:lvl1pPr>
          </a:lstStyle>
          <a:p>
            <a:pPr lvl="0"/>
            <a:r>
              <a:rPr lang="fr-CH" dirty="0"/>
              <a:t>Inserire nome committente</a:t>
            </a:r>
          </a:p>
        </p:txBody>
      </p:sp>
      <p:cxnSp>
        <p:nvCxnSpPr>
          <p:cNvPr id="45" name="Connettore 1 44"/>
          <p:cNvCxnSpPr/>
          <p:nvPr userDrawn="1"/>
        </p:nvCxnSpPr>
        <p:spPr>
          <a:xfrm>
            <a:off x="323528" y="6115709"/>
            <a:ext cx="7848872" cy="0"/>
          </a:xfrm>
          <a:prstGeom prst="line">
            <a:avLst/>
          </a:prstGeom>
          <a:ln w="6350" cmpd="sng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Segnaposto testo 12"/>
          <p:cNvSpPr>
            <a:spLocks noGrp="1"/>
          </p:cNvSpPr>
          <p:nvPr>
            <p:ph type="body" sz="quarter" idx="37" hasCustomPrompt="1"/>
          </p:nvPr>
        </p:nvSpPr>
        <p:spPr>
          <a:xfrm>
            <a:off x="323528" y="6165304"/>
            <a:ext cx="2520280" cy="144016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buNone/>
              <a:defRPr sz="800" baseline="0"/>
            </a:lvl1pPr>
          </a:lstStyle>
          <a:p>
            <a:pPr lvl="0"/>
            <a:r>
              <a:rPr lang="fr-CH" dirty="0"/>
              <a:t>Committente</a:t>
            </a:r>
          </a:p>
        </p:txBody>
      </p:sp>
      <p:sp>
        <p:nvSpPr>
          <p:cNvPr id="49" name="Segnaposto testo 12"/>
          <p:cNvSpPr>
            <a:spLocks noGrp="1"/>
          </p:cNvSpPr>
          <p:nvPr>
            <p:ph type="body" sz="quarter" idx="40" hasCustomPrompt="1"/>
          </p:nvPr>
        </p:nvSpPr>
        <p:spPr>
          <a:xfrm>
            <a:off x="5652120" y="5115813"/>
            <a:ext cx="2520280" cy="144016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buNone/>
              <a:defRPr sz="800" baseline="0"/>
            </a:lvl1pPr>
          </a:lstStyle>
          <a:p>
            <a:pPr lvl="0"/>
            <a:r>
              <a:rPr lang="fr-CH" dirty="0"/>
              <a:t>Anno</a:t>
            </a:r>
          </a:p>
        </p:txBody>
      </p:sp>
      <p:sp>
        <p:nvSpPr>
          <p:cNvPr id="50" name="Segnaposto testo 12"/>
          <p:cNvSpPr>
            <a:spLocks noGrp="1"/>
          </p:cNvSpPr>
          <p:nvPr>
            <p:ph type="body" sz="quarter" idx="41" hasCustomPrompt="1"/>
          </p:nvPr>
        </p:nvSpPr>
        <p:spPr>
          <a:xfrm>
            <a:off x="5652120" y="5331837"/>
            <a:ext cx="2520280" cy="216024"/>
          </a:xfrm>
          <a:prstGeom prst="rect">
            <a:avLst/>
          </a:prstGeom>
        </p:spPr>
        <p:txBody>
          <a:bodyPr lIns="0" tIns="0" rIns="0" bIns="0"/>
          <a:lstStyle>
            <a:lvl1pPr algn="l">
              <a:buNone/>
              <a:defRPr sz="1400" baseline="0"/>
            </a:lvl1pPr>
          </a:lstStyle>
          <a:p>
            <a:pPr lvl="0"/>
            <a:r>
              <a:rPr lang="fr-CH" dirty="0"/>
              <a:t>Inserire anno</a:t>
            </a:r>
          </a:p>
        </p:txBody>
      </p:sp>
      <p:sp>
        <p:nvSpPr>
          <p:cNvPr id="22" name="Segnaposto testo 12"/>
          <p:cNvSpPr>
            <a:spLocks noGrp="1"/>
          </p:cNvSpPr>
          <p:nvPr>
            <p:ph type="body" sz="quarter" idx="42" hasCustomPrompt="1"/>
          </p:nvPr>
        </p:nvSpPr>
        <p:spPr>
          <a:xfrm>
            <a:off x="5652120" y="4062130"/>
            <a:ext cx="2520280" cy="144016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buNone/>
              <a:defRPr sz="800" baseline="0"/>
            </a:lvl1pPr>
          </a:lstStyle>
          <a:p>
            <a:pPr lvl="0"/>
            <a:r>
              <a:rPr lang="fr-CH" dirty="0"/>
              <a:t>Correlatore</a:t>
            </a:r>
          </a:p>
        </p:txBody>
      </p:sp>
      <p:sp>
        <p:nvSpPr>
          <p:cNvPr id="23" name="Segnaposto testo 12"/>
          <p:cNvSpPr>
            <a:spLocks noGrp="1"/>
          </p:cNvSpPr>
          <p:nvPr>
            <p:ph type="body" sz="quarter" idx="43" hasCustomPrompt="1"/>
          </p:nvPr>
        </p:nvSpPr>
        <p:spPr>
          <a:xfrm>
            <a:off x="5652120" y="4278154"/>
            <a:ext cx="2520280" cy="504056"/>
          </a:xfrm>
          <a:prstGeom prst="rect">
            <a:avLst/>
          </a:prstGeom>
        </p:spPr>
        <p:txBody>
          <a:bodyPr lIns="0" tIns="0" rIns="0" bIns="0"/>
          <a:lstStyle>
            <a:lvl1pPr algn="l">
              <a:buNone/>
              <a:defRPr sz="1400" baseline="0"/>
            </a:lvl1pPr>
          </a:lstStyle>
          <a:p>
            <a:pPr lvl="0"/>
            <a:r>
              <a:rPr lang="fr-CH" dirty="0"/>
              <a:t>Inserire nome correlatore</a:t>
            </a:r>
          </a:p>
        </p:txBody>
      </p:sp>
      <p:pic>
        <p:nvPicPr>
          <p:cNvPr id="28" name="Immagine 9" descr="Modulo_SUPSI_DTI.gif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341313" y="179388"/>
            <a:ext cx="4075112" cy="1471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" name="Segnaposto testo 12"/>
          <p:cNvSpPr>
            <a:spLocks noGrp="1"/>
          </p:cNvSpPr>
          <p:nvPr>
            <p:ph type="body" sz="quarter" idx="44" hasCustomPrompt="1"/>
          </p:nvPr>
        </p:nvSpPr>
        <p:spPr>
          <a:xfrm>
            <a:off x="2987824" y="6381328"/>
            <a:ext cx="2520280" cy="216024"/>
          </a:xfrm>
          <a:prstGeom prst="rect">
            <a:avLst/>
          </a:prstGeom>
        </p:spPr>
        <p:txBody>
          <a:bodyPr lIns="0" tIns="0" rIns="0" bIns="0"/>
          <a:lstStyle>
            <a:lvl1pPr algn="l">
              <a:buNone/>
              <a:defRPr sz="1400" baseline="0"/>
            </a:lvl1pPr>
          </a:lstStyle>
          <a:p>
            <a:pPr lvl="0"/>
            <a:r>
              <a:rPr lang="fr-CH" dirty="0"/>
              <a:t>Inserire data</a:t>
            </a:r>
          </a:p>
        </p:txBody>
      </p:sp>
      <p:sp>
        <p:nvSpPr>
          <p:cNvPr id="31" name="Segnaposto testo 12"/>
          <p:cNvSpPr>
            <a:spLocks noGrp="1"/>
          </p:cNvSpPr>
          <p:nvPr>
            <p:ph type="body" sz="quarter" idx="45" hasCustomPrompt="1"/>
          </p:nvPr>
        </p:nvSpPr>
        <p:spPr>
          <a:xfrm>
            <a:off x="2987824" y="6165304"/>
            <a:ext cx="2520280" cy="144016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buNone/>
              <a:defRPr sz="800" baseline="0"/>
            </a:lvl1pPr>
          </a:lstStyle>
          <a:p>
            <a:pPr lvl="0"/>
            <a:r>
              <a:rPr lang="fr-CH" dirty="0"/>
              <a:t>Data</a:t>
            </a:r>
          </a:p>
        </p:txBody>
      </p:sp>
    </p:spTree>
    <p:extLst>
      <p:ext uri="{BB962C8B-B14F-4D97-AF65-F5344CB8AC3E}">
        <p14:creationId xmlns:p14="http://schemas.microsoft.com/office/powerpoint/2010/main" val="206461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; testo e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testo 12"/>
          <p:cNvSpPr>
            <a:spLocks noGrp="1"/>
          </p:cNvSpPr>
          <p:nvPr>
            <p:ph type="body" sz="quarter" idx="13" hasCustomPrompt="1"/>
          </p:nvPr>
        </p:nvSpPr>
        <p:spPr>
          <a:xfrm>
            <a:off x="323528" y="2314972"/>
            <a:ext cx="3816424" cy="4248472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4572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1400" u="none" baseline="0"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fr-CH" dirty="0"/>
              <a:t>Inserisci testo. </a:t>
            </a:r>
            <a:r>
              <a:rPr lang="it-IT" dirty="0" err="1"/>
              <a:t>Posuere</a:t>
            </a:r>
            <a:r>
              <a:rPr lang="it-IT" dirty="0"/>
              <a:t> non </a:t>
            </a:r>
            <a:r>
              <a:rPr lang="it-IT" dirty="0" err="1"/>
              <a:t>eleifend</a:t>
            </a:r>
            <a:r>
              <a:rPr lang="it-IT" dirty="0"/>
              <a:t> id, porta et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Praesent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suscipit</a:t>
            </a:r>
            <a:r>
              <a:rPr lang="it-IT" dirty="0"/>
              <a:t> magna, ut </a:t>
            </a:r>
            <a:r>
              <a:rPr lang="it-IT" dirty="0" err="1"/>
              <a:t>volutpat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.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habitant</a:t>
            </a:r>
            <a:r>
              <a:rPr lang="it-IT" dirty="0"/>
              <a:t> morbi </a:t>
            </a:r>
            <a:r>
              <a:rPr lang="it-IT" dirty="0" err="1"/>
              <a:t>tristique</a:t>
            </a:r>
            <a:r>
              <a:rPr lang="it-IT" dirty="0"/>
              <a:t> </a:t>
            </a:r>
            <a:r>
              <a:rPr lang="it-IT" dirty="0" err="1"/>
              <a:t>senectus</a:t>
            </a:r>
            <a:r>
              <a:rPr lang="it-IT" dirty="0"/>
              <a:t> et </a:t>
            </a:r>
            <a:r>
              <a:rPr lang="it-IT" dirty="0" err="1"/>
              <a:t>netus</a:t>
            </a:r>
            <a:r>
              <a:rPr lang="it-IT" dirty="0"/>
              <a:t> et </a:t>
            </a:r>
            <a:r>
              <a:rPr lang="it-IT" dirty="0" err="1"/>
              <a:t>malesuada</a:t>
            </a:r>
            <a:r>
              <a:rPr lang="it-IT" dirty="0"/>
              <a:t> </a:t>
            </a:r>
            <a:r>
              <a:rPr lang="it-IT" dirty="0" err="1"/>
              <a:t>fames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 </a:t>
            </a:r>
            <a:r>
              <a:rPr lang="it-IT" dirty="0" err="1"/>
              <a:t>turpis</a:t>
            </a:r>
            <a:r>
              <a:rPr lang="it-IT" dirty="0"/>
              <a:t> </a:t>
            </a:r>
            <a:r>
              <a:rPr lang="it-IT" dirty="0" err="1"/>
              <a:t>egestas</a:t>
            </a:r>
            <a:r>
              <a:rPr lang="it-IT" dirty="0"/>
              <a:t>. Ut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massa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id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diam</a:t>
            </a:r>
            <a:r>
              <a:rPr lang="it-IT" dirty="0"/>
              <a:t>. </a:t>
            </a:r>
            <a:r>
              <a:rPr lang="it-IT" dirty="0" err="1"/>
              <a:t>Proin</a:t>
            </a:r>
            <a:r>
              <a:rPr lang="it-IT" dirty="0"/>
              <a:t> </a:t>
            </a:r>
            <a:r>
              <a:rPr lang="it-IT" dirty="0" err="1"/>
              <a:t>dapibus</a:t>
            </a:r>
            <a:r>
              <a:rPr lang="it-IT" dirty="0"/>
              <a:t> </a:t>
            </a:r>
            <a:r>
              <a:rPr lang="it-IT" dirty="0" err="1"/>
              <a:t>sapien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 urna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 </a:t>
            </a:r>
            <a:r>
              <a:rPr lang="it-IT" dirty="0" err="1"/>
              <a:t>congue</a:t>
            </a:r>
            <a:r>
              <a:rPr lang="it-IT" dirty="0"/>
              <a:t> eros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aliquet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viverra </a:t>
            </a:r>
            <a:r>
              <a:rPr lang="it-IT" dirty="0" err="1"/>
              <a:t>dignissim</a:t>
            </a:r>
            <a:r>
              <a:rPr lang="it-IT" dirty="0"/>
              <a:t>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odio eros, </a:t>
            </a:r>
            <a:r>
              <a:rPr lang="it-IT" dirty="0" err="1"/>
              <a:t>luctus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a, </a:t>
            </a:r>
            <a:r>
              <a:rPr lang="it-IT" dirty="0" err="1"/>
              <a:t>pretium</a:t>
            </a:r>
            <a:r>
              <a:rPr lang="it-IT" dirty="0"/>
              <a:t> non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 vitae </a:t>
            </a:r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mattis</a:t>
            </a:r>
            <a:r>
              <a:rPr lang="it-IT" dirty="0"/>
              <a:t> </a:t>
            </a:r>
            <a:r>
              <a:rPr lang="it-IT" dirty="0" err="1"/>
              <a:t>purus</a:t>
            </a:r>
            <a:r>
              <a:rPr lang="it-IT" dirty="0"/>
              <a:t>, </a:t>
            </a:r>
            <a:r>
              <a:rPr lang="it-IT" dirty="0" err="1"/>
              <a:t>tempor</a:t>
            </a:r>
            <a:r>
              <a:rPr lang="it-IT" dirty="0"/>
              <a:t> </a:t>
            </a:r>
            <a:r>
              <a:rPr lang="it-IT" dirty="0" err="1"/>
              <a:t>vehicula</a:t>
            </a:r>
            <a:r>
              <a:rPr lang="it-IT" dirty="0"/>
              <a:t> orci </a:t>
            </a:r>
            <a:r>
              <a:rPr lang="it-IT" dirty="0" err="1"/>
              <a:t>congue</a:t>
            </a:r>
            <a:r>
              <a:rPr lang="it-IT" dirty="0"/>
              <a:t> a. </a:t>
            </a:r>
            <a:r>
              <a:rPr lang="it-IT" dirty="0" err="1"/>
              <a:t>Vestibulum</a:t>
            </a:r>
            <a:r>
              <a:rPr lang="it-IT" dirty="0"/>
              <a:t> </a:t>
            </a:r>
            <a:r>
              <a:rPr lang="it-IT" dirty="0" err="1"/>
              <a:t>scelerisque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volutpat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.</a:t>
            </a:r>
          </a:p>
        </p:txBody>
      </p:sp>
      <p:sp>
        <p:nvSpPr>
          <p:cNvPr id="13" name="Segnaposto testo 12"/>
          <p:cNvSpPr>
            <a:spLocks noGrp="1"/>
          </p:cNvSpPr>
          <p:nvPr>
            <p:ph type="body" sz="quarter" idx="14" hasCustomPrompt="1"/>
          </p:nvPr>
        </p:nvSpPr>
        <p:spPr>
          <a:xfrm>
            <a:off x="323528" y="1203808"/>
            <a:ext cx="7848872" cy="929048"/>
          </a:xfrm>
          <a:prstGeom prst="rect">
            <a:avLst/>
          </a:prstGeom>
        </p:spPr>
        <p:txBody>
          <a:bodyPr lIns="0" tIns="0" rIns="0" bIns="0"/>
          <a:lstStyle>
            <a:lvl1pPr marL="342900" marR="0" indent="-342900" algn="l" defTabSz="4572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700" baseline="0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pPr lvl="0"/>
            <a:r>
              <a:rPr lang="fr-CH" dirty="0"/>
              <a:t>Inserisci titolo</a:t>
            </a:r>
          </a:p>
        </p:txBody>
      </p:sp>
    </p:spTree>
    <p:extLst>
      <p:ext uri="{BB962C8B-B14F-4D97-AF65-F5344CB8AC3E}">
        <p14:creationId xmlns:p14="http://schemas.microsoft.com/office/powerpoint/2010/main" val="4155923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o e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testo 12"/>
          <p:cNvSpPr>
            <a:spLocks noGrp="1"/>
          </p:cNvSpPr>
          <p:nvPr>
            <p:ph type="body" sz="quarter" idx="15" hasCustomPrompt="1"/>
          </p:nvPr>
        </p:nvSpPr>
        <p:spPr>
          <a:xfrm>
            <a:off x="323528" y="1247552"/>
            <a:ext cx="3816424" cy="5328592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4572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1400" baseline="0"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fr-CH" dirty="0"/>
              <a:t>Inserisci testo. </a:t>
            </a:r>
            <a:r>
              <a:rPr lang="it-IT" dirty="0" err="1"/>
              <a:t>Posuere</a:t>
            </a:r>
            <a:r>
              <a:rPr lang="it-IT" dirty="0"/>
              <a:t> non </a:t>
            </a:r>
            <a:r>
              <a:rPr lang="it-IT" dirty="0" err="1"/>
              <a:t>eleifend</a:t>
            </a:r>
            <a:r>
              <a:rPr lang="it-IT" dirty="0"/>
              <a:t> id, porta et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Praesent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suscipit</a:t>
            </a:r>
            <a:r>
              <a:rPr lang="it-IT" dirty="0"/>
              <a:t> magna, ut </a:t>
            </a:r>
            <a:r>
              <a:rPr lang="it-IT" dirty="0" err="1"/>
              <a:t>volutpat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.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habitant</a:t>
            </a:r>
            <a:r>
              <a:rPr lang="it-IT" dirty="0"/>
              <a:t> morbi </a:t>
            </a:r>
            <a:r>
              <a:rPr lang="it-IT" dirty="0" err="1"/>
              <a:t>tristique</a:t>
            </a:r>
            <a:r>
              <a:rPr lang="it-IT" dirty="0"/>
              <a:t> </a:t>
            </a:r>
            <a:r>
              <a:rPr lang="it-IT" dirty="0" err="1"/>
              <a:t>senectus</a:t>
            </a:r>
            <a:r>
              <a:rPr lang="it-IT" dirty="0"/>
              <a:t> et </a:t>
            </a:r>
            <a:r>
              <a:rPr lang="it-IT" dirty="0" err="1"/>
              <a:t>netus</a:t>
            </a:r>
            <a:r>
              <a:rPr lang="it-IT" dirty="0"/>
              <a:t> et </a:t>
            </a:r>
            <a:r>
              <a:rPr lang="it-IT" dirty="0" err="1"/>
              <a:t>malesuada</a:t>
            </a:r>
            <a:r>
              <a:rPr lang="it-IT" dirty="0"/>
              <a:t> </a:t>
            </a:r>
            <a:r>
              <a:rPr lang="it-IT" dirty="0" err="1"/>
              <a:t>fames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 </a:t>
            </a:r>
            <a:r>
              <a:rPr lang="it-IT" dirty="0" err="1"/>
              <a:t>turpis</a:t>
            </a:r>
            <a:r>
              <a:rPr lang="it-IT" dirty="0"/>
              <a:t> </a:t>
            </a:r>
            <a:r>
              <a:rPr lang="it-IT" dirty="0" err="1"/>
              <a:t>egestas</a:t>
            </a:r>
            <a:r>
              <a:rPr lang="it-IT" dirty="0"/>
              <a:t>. Ut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massa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id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diam</a:t>
            </a:r>
            <a:r>
              <a:rPr lang="it-IT" dirty="0"/>
              <a:t>. </a:t>
            </a:r>
            <a:r>
              <a:rPr lang="it-IT" dirty="0" err="1"/>
              <a:t>Proin</a:t>
            </a:r>
            <a:r>
              <a:rPr lang="it-IT" dirty="0"/>
              <a:t> </a:t>
            </a:r>
            <a:r>
              <a:rPr lang="it-IT" dirty="0" err="1"/>
              <a:t>dapibus</a:t>
            </a:r>
            <a:r>
              <a:rPr lang="it-IT" dirty="0"/>
              <a:t> </a:t>
            </a:r>
            <a:r>
              <a:rPr lang="it-IT" dirty="0" err="1"/>
              <a:t>sapien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 urna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 </a:t>
            </a:r>
            <a:r>
              <a:rPr lang="it-IT" dirty="0" err="1"/>
              <a:t>congue</a:t>
            </a:r>
            <a:r>
              <a:rPr lang="it-IT" dirty="0"/>
              <a:t> eros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aliquet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viverra </a:t>
            </a:r>
            <a:r>
              <a:rPr lang="it-IT" dirty="0" err="1"/>
              <a:t>dignissim</a:t>
            </a:r>
            <a:r>
              <a:rPr lang="it-IT" dirty="0"/>
              <a:t>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odio eros, </a:t>
            </a:r>
            <a:r>
              <a:rPr lang="it-IT" dirty="0" err="1"/>
              <a:t>luctus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a, </a:t>
            </a:r>
            <a:r>
              <a:rPr lang="it-IT" dirty="0" err="1"/>
              <a:t>pretium</a:t>
            </a:r>
            <a:r>
              <a:rPr lang="it-IT" dirty="0"/>
              <a:t> non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 vitae </a:t>
            </a:r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mattis</a:t>
            </a:r>
            <a:r>
              <a:rPr lang="it-IT" dirty="0"/>
              <a:t> </a:t>
            </a:r>
            <a:r>
              <a:rPr lang="it-IT" dirty="0" err="1"/>
              <a:t>purus</a:t>
            </a:r>
            <a:r>
              <a:rPr lang="it-IT" dirty="0"/>
              <a:t>, </a:t>
            </a:r>
            <a:r>
              <a:rPr lang="it-IT" dirty="0" err="1"/>
              <a:t>tempor</a:t>
            </a:r>
            <a:r>
              <a:rPr lang="it-IT" dirty="0"/>
              <a:t> </a:t>
            </a:r>
            <a:r>
              <a:rPr lang="it-IT" dirty="0" err="1"/>
              <a:t>vehicula</a:t>
            </a:r>
            <a:r>
              <a:rPr lang="it-IT" dirty="0"/>
              <a:t> orci </a:t>
            </a:r>
            <a:r>
              <a:rPr lang="it-IT" dirty="0" err="1"/>
              <a:t>congue</a:t>
            </a:r>
            <a:r>
              <a:rPr lang="it-IT" dirty="0"/>
              <a:t> a. </a:t>
            </a:r>
            <a:r>
              <a:rPr lang="it-IT" dirty="0" err="1"/>
              <a:t>Vestibulum</a:t>
            </a:r>
            <a:r>
              <a:rPr lang="it-IT" dirty="0"/>
              <a:t> </a:t>
            </a:r>
            <a:r>
              <a:rPr lang="it-IT" dirty="0" err="1"/>
              <a:t>scelerisque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volutpat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. </a:t>
            </a:r>
            <a:r>
              <a:rPr lang="it-IT" dirty="0" err="1"/>
              <a:t>fames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 </a:t>
            </a:r>
            <a:r>
              <a:rPr lang="it-IT" dirty="0" err="1"/>
              <a:t>turpis</a:t>
            </a:r>
            <a:r>
              <a:rPr lang="it-IT" dirty="0"/>
              <a:t> </a:t>
            </a:r>
            <a:r>
              <a:rPr lang="it-IT" dirty="0" err="1"/>
              <a:t>egestas</a:t>
            </a:r>
            <a:r>
              <a:rPr lang="it-IT" dirty="0"/>
              <a:t>. Ut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massa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id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diam</a:t>
            </a:r>
            <a:r>
              <a:rPr lang="it-IT" dirty="0"/>
              <a:t>. </a:t>
            </a:r>
            <a:r>
              <a:rPr lang="it-IT" dirty="0" err="1"/>
              <a:t>Proin</a:t>
            </a:r>
            <a:r>
              <a:rPr lang="it-IT" dirty="0"/>
              <a:t> </a:t>
            </a:r>
            <a:r>
              <a:rPr lang="it-IT" dirty="0" err="1"/>
              <a:t>dapibus</a:t>
            </a:r>
            <a:r>
              <a:rPr lang="it-IT" dirty="0"/>
              <a:t> </a:t>
            </a:r>
            <a:r>
              <a:rPr lang="it-IT" dirty="0" err="1"/>
              <a:t>sapien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 urna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 </a:t>
            </a:r>
            <a:r>
              <a:rPr lang="it-IT" dirty="0" err="1"/>
              <a:t>congue</a:t>
            </a:r>
            <a:r>
              <a:rPr lang="it-IT" dirty="0"/>
              <a:t> eros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aliquet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viverra </a:t>
            </a:r>
            <a:r>
              <a:rPr lang="it-IT" dirty="0" err="1"/>
              <a:t>dignissim</a:t>
            </a:r>
            <a:r>
              <a:rPr lang="it-IT" dirty="0"/>
              <a:t>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odio eros, </a:t>
            </a:r>
            <a:r>
              <a:rPr lang="it-IT" dirty="0" err="1"/>
              <a:t>luctus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a, </a:t>
            </a:r>
            <a:r>
              <a:rPr lang="it-IT" dirty="0" err="1"/>
              <a:t>pretium</a:t>
            </a:r>
            <a:r>
              <a:rPr lang="it-IT" dirty="0"/>
              <a:t> non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 vitae </a:t>
            </a:r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mattis</a:t>
            </a:r>
            <a:r>
              <a:rPr lang="it-IT" dirty="0"/>
              <a:t> </a:t>
            </a:r>
            <a:r>
              <a:rPr lang="it-IT" dirty="0" err="1"/>
              <a:t>purus</a:t>
            </a:r>
            <a:r>
              <a:rPr lang="it-IT" dirty="0"/>
              <a:t>, </a:t>
            </a:r>
            <a:r>
              <a:rPr lang="it-IT" dirty="0" err="1"/>
              <a:t>tempor</a:t>
            </a:r>
            <a:r>
              <a:rPr lang="it-IT" dirty="0"/>
              <a:t> </a:t>
            </a:r>
            <a:r>
              <a:rPr lang="it-IT" dirty="0" err="1"/>
              <a:t>vehicula</a:t>
            </a:r>
            <a:r>
              <a:rPr lang="it-IT" dirty="0"/>
              <a:t> orci </a:t>
            </a:r>
            <a:r>
              <a:rPr lang="it-IT" dirty="0" err="1"/>
              <a:t>congue</a:t>
            </a:r>
            <a:r>
              <a:rPr lang="it-IT" dirty="0"/>
              <a:t> a. </a:t>
            </a:r>
            <a:r>
              <a:rPr lang="it-IT" dirty="0" err="1"/>
              <a:t>Vestibulum</a:t>
            </a:r>
            <a:r>
              <a:rPr lang="it-IT" dirty="0"/>
              <a:t> </a:t>
            </a:r>
            <a:r>
              <a:rPr lang="it-IT" dirty="0" err="1"/>
              <a:t>scelerisque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volutpat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.</a:t>
            </a:r>
          </a:p>
          <a:p>
            <a:pPr lvl="0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9806551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3 testo; 2/3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testo 12"/>
          <p:cNvSpPr>
            <a:spLocks noGrp="1"/>
          </p:cNvSpPr>
          <p:nvPr>
            <p:ph type="body" sz="quarter" idx="13" hasCustomPrompt="1"/>
          </p:nvPr>
        </p:nvSpPr>
        <p:spPr>
          <a:xfrm>
            <a:off x="323528" y="1247592"/>
            <a:ext cx="2520280" cy="532859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400" baseline="0"/>
            </a:lvl1pPr>
          </a:lstStyle>
          <a:p>
            <a:pPr lvl="0"/>
            <a:r>
              <a:rPr lang="fr-CH" dirty="0"/>
              <a:t>Inserisci testo. </a:t>
            </a:r>
            <a:r>
              <a:rPr lang="it-IT" dirty="0" err="1"/>
              <a:t>Posuere</a:t>
            </a:r>
            <a:r>
              <a:rPr lang="it-IT" dirty="0"/>
              <a:t> non </a:t>
            </a:r>
            <a:r>
              <a:rPr lang="it-IT" dirty="0" err="1"/>
              <a:t>eleifend</a:t>
            </a:r>
            <a:r>
              <a:rPr lang="it-IT" dirty="0"/>
              <a:t> id, porta et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Praesent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suscipit</a:t>
            </a:r>
            <a:r>
              <a:rPr lang="it-IT" dirty="0"/>
              <a:t> magna, ut </a:t>
            </a:r>
            <a:r>
              <a:rPr lang="it-IT" dirty="0" err="1"/>
              <a:t>volutpat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.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habitant</a:t>
            </a:r>
            <a:r>
              <a:rPr lang="it-IT" dirty="0"/>
              <a:t> morbi </a:t>
            </a:r>
            <a:r>
              <a:rPr lang="it-IT" dirty="0" err="1"/>
              <a:t>tristique</a:t>
            </a:r>
            <a:r>
              <a:rPr lang="it-IT" dirty="0"/>
              <a:t> </a:t>
            </a:r>
            <a:r>
              <a:rPr lang="it-IT" dirty="0" err="1"/>
              <a:t>senectus</a:t>
            </a:r>
            <a:r>
              <a:rPr lang="it-IT" dirty="0"/>
              <a:t> et </a:t>
            </a:r>
            <a:r>
              <a:rPr lang="it-IT" dirty="0" err="1"/>
              <a:t>netus</a:t>
            </a:r>
            <a:r>
              <a:rPr lang="it-IT" dirty="0"/>
              <a:t> et </a:t>
            </a:r>
            <a:r>
              <a:rPr lang="it-IT" dirty="0" err="1"/>
              <a:t>malesuada</a:t>
            </a:r>
            <a:r>
              <a:rPr lang="it-IT" dirty="0"/>
              <a:t> </a:t>
            </a:r>
            <a:r>
              <a:rPr lang="it-IT" dirty="0" err="1"/>
              <a:t>fames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 </a:t>
            </a:r>
            <a:r>
              <a:rPr lang="it-IT" dirty="0" err="1"/>
              <a:t>turpis</a:t>
            </a:r>
            <a:r>
              <a:rPr lang="it-IT" dirty="0"/>
              <a:t> </a:t>
            </a:r>
            <a:r>
              <a:rPr lang="it-IT" dirty="0" err="1"/>
              <a:t>egestas</a:t>
            </a:r>
            <a:r>
              <a:rPr lang="it-IT" dirty="0"/>
              <a:t>. Ut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massa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id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diam</a:t>
            </a:r>
            <a:r>
              <a:rPr lang="it-IT" dirty="0"/>
              <a:t>. </a:t>
            </a:r>
            <a:r>
              <a:rPr lang="it-IT" dirty="0" err="1"/>
              <a:t>Proin</a:t>
            </a:r>
            <a:r>
              <a:rPr lang="it-IT" dirty="0"/>
              <a:t> </a:t>
            </a:r>
            <a:r>
              <a:rPr lang="it-IT" dirty="0" err="1"/>
              <a:t>dapibus</a:t>
            </a:r>
            <a:r>
              <a:rPr lang="it-IT" dirty="0"/>
              <a:t> </a:t>
            </a:r>
            <a:r>
              <a:rPr lang="it-IT" dirty="0" err="1"/>
              <a:t>sapien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 urna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 </a:t>
            </a:r>
            <a:r>
              <a:rPr lang="it-IT" dirty="0" err="1"/>
              <a:t>congue</a:t>
            </a:r>
            <a:r>
              <a:rPr lang="it-IT" dirty="0"/>
              <a:t> eros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aliquet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viverra </a:t>
            </a:r>
            <a:r>
              <a:rPr lang="it-IT" dirty="0" err="1"/>
              <a:t>dignissim</a:t>
            </a:r>
            <a:r>
              <a:rPr lang="it-IT" dirty="0"/>
              <a:t>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odio eros, </a:t>
            </a:r>
            <a:r>
              <a:rPr lang="it-IT" dirty="0" err="1"/>
              <a:t>luctus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a, </a:t>
            </a:r>
            <a:r>
              <a:rPr lang="it-IT" dirty="0" err="1"/>
              <a:t>pretium</a:t>
            </a:r>
            <a:r>
              <a:rPr lang="it-IT" dirty="0"/>
              <a:t> non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 vitae </a:t>
            </a:r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mattis</a:t>
            </a:r>
            <a:r>
              <a:rPr lang="it-IT" dirty="0"/>
              <a:t> </a:t>
            </a:r>
            <a:r>
              <a:rPr lang="it-IT" dirty="0" err="1"/>
              <a:t>purus</a:t>
            </a:r>
            <a:r>
              <a:rPr lang="it-IT" dirty="0"/>
              <a:t>, </a:t>
            </a:r>
            <a:r>
              <a:rPr lang="it-IT" dirty="0" err="1"/>
              <a:t>tempor</a:t>
            </a:r>
            <a:r>
              <a:rPr lang="it-IT" dirty="0"/>
              <a:t> </a:t>
            </a:r>
            <a:r>
              <a:rPr lang="it-IT" dirty="0" err="1"/>
              <a:t>vehicula</a:t>
            </a:r>
            <a:r>
              <a:rPr lang="it-IT" dirty="0"/>
              <a:t> orci </a:t>
            </a:r>
            <a:r>
              <a:rPr lang="it-IT" dirty="0" err="1"/>
              <a:t>congue</a:t>
            </a:r>
            <a:r>
              <a:rPr lang="it-IT" dirty="0"/>
              <a:t> a. </a:t>
            </a:r>
            <a:r>
              <a:rPr lang="it-IT" dirty="0" err="1"/>
              <a:t>Vestibulum</a:t>
            </a:r>
            <a:r>
              <a:rPr lang="it-IT" dirty="0"/>
              <a:t> </a:t>
            </a:r>
            <a:r>
              <a:rPr lang="it-IT" dirty="0" err="1"/>
              <a:t>scelerisque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volutpat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585991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magine 2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2440" y="4008288"/>
            <a:ext cx="271836" cy="2548961"/>
          </a:xfrm>
          <a:prstGeom prst="rect">
            <a:avLst/>
          </a:prstGeom>
        </p:spPr>
      </p:pic>
      <p:pic>
        <p:nvPicPr>
          <p:cNvPr id="3" name="Immagine 6" descr="logo_SUPSI_acr.gif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346075" y="188640"/>
            <a:ext cx="469900" cy="131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338061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40" r:id="rId1"/>
    <p:sldLayoutId id="2147484141" r:id="rId2"/>
    <p:sldLayoutId id="2147484142" r:id="rId3"/>
    <p:sldLayoutId id="2147484143" r:id="rId4"/>
  </p:sldLayoutIdLst>
  <p:hf hdr="0" ft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pitchFamily="-128" charset="-128"/>
          <a:cs typeface="ＭＳ Ｐゴシック" pitchFamily="-128" charset="-128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itchFamily="-128" charset="-52"/>
          <a:ea typeface="ＭＳ Ｐゴシック" pitchFamily="-128" charset="-128"/>
          <a:cs typeface="ＭＳ Ｐゴシック" pitchFamily="-128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itchFamily="-128" charset="-52"/>
          <a:ea typeface="ＭＳ Ｐゴシック" pitchFamily="-128" charset="-128"/>
          <a:cs typeface="ＭＳ Ｐゴシック" pitchFamily="-128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itchFamily="-128" charset="-52"/>
          <a:ea typeface="ＭＳ Ｐゴシック" pitchFamily="-128" charset="-128"/>
          <a:cs typeface="ＭＳ Ｐゴシック" pitchFamily="-128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itchFamily="-128" charset="-52"/>
          <a:ea typeface="ＭＳ Ｐゴシック" pitchFamily="-128" charset="-128"/>
          <a:cs typeface="ＭＳ Ｐゴシック" pitchFamily="-128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itchFamily="-128" charset="-52"/>
          <a:ea typeface="ＭＳ Ｐゴシック" pitchFamily="-128" charset="-128"/>
          <a:cs typeface="ＭＳ Ｐゴシック" pitchFamily="-128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itchFamily="-128" charset="-52"/>
          <a:ea typeface="ＭＳ Ｐゴシック" pitchFamily="-128" charset="-128"/>
          <a:cs typeface="ＭＳ Ｐゴシック" pitchFamily="-128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itchFamily="-128" charset="-52"/>
          <a:ea typeface="ＭＳ Ｐゴシック" pitchFamily="-128" charset="-128"/>
          <a:cs typeface="ＭＳ Ｐゴシック" pitchFamily="-128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itchFamily="-128" charset="-52"/>
          <a:ea typeface="ＭＳ Ｐゴシック" pitchFamily="-128" charset="-128"/>
          <a:cs typeface="ＭＳ Ｐゴシック" pitchFamily="-128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pitchFamily="-128" charset="-128"/>
          <a:cs typeface="ＭＳ Ｐゴシック" pitchFamily="-128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ＭＳ Ｐゴシック" pitchFamily="-128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pitchFamily="-128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pitchFamily="-128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pitchFamily="-128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b="1" dirty="0" err="1"/>
              <a:t>MineSweeper</a:t>
            </a:r>
            <a:endParaRPr lang="it-IT" b="1" dirty="0"/>
          </a:p>
        </p:txBody>
      </p:sp>
      <p:sp>
        <p:nvSpPr>
          <p:cNvPr id="3" name="Segnaposto testo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it-IT" dirty="0"/>
              <a:t>Yildirim Memet Emre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it-IT" dirty="0"/>
              <a:t>Studente/i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it-IT" dirty="0" err="1"/>
              <a:t>Ingengeria</a:t>
            </a:r>
            <a:r>
              <a:rPr lang="it-IT" dirty="0"/>
              <a:t> Informatica</a:t>
            </a:r>
          </a:p>
        </p:txBody>
      </p:sp>
      <p:sp>
        <p:nvSpPr>
          <p:cNvPr id="6" name="Segnaposto testo 5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it-IT" dirty="0"/>
              <a:t>Corso di laurea</a:t>
            </a:r>
          </a:p>
        </p:txBody>
      </p:sp>
      <p:sp>
        <p:nvSpPr>
          <p:cNvPr id="7" name="Segnaposto testo 6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it-IT" dirty="0"/>
              <a:t>Modulo / Codice Progetto</a:t>
            </a:r>
          </a:p>
        </p:txBody>
      </p:sp>
      <p:sp>
        <p:nvSpPr>
          <p:cNvPr id="8" name="Segnaposto testo 7"/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it-IT" dirty="0"/>
              <a:t>Software Engineering I</a:t>
            </a:r>
          </a:p>
        </p:txBody>
      </p:sp>
      <p:sp>
        <p:nvSpPr>
          <p:cNvPr id="9" name="Segnaposto testo 8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rPr lang="it-IT" dirty="0"/>
              <a:t>Relatore</a:t>
            </a:r>
          </a:p>
        </p:txBody>
      </p:sp>
      <p:sp>
        <p:nvSpPr>
          <p:cNvPr id="10" name="Segnaposto testo 9"/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r>
              <a:rPr lang="it-IT" dirty="0"/>
              <a:t>Giancarlo Corti</a:t>
            </a:r>
          </a:p>
        </p:txBody>
      </p:sp>
      <p:sp>
        <p:nvSpPr>
          <p:cNvPr id="11" name="Segnaposto testo 10"/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r>
              <a:rPr lang="it-IT" sz="1200" dirty="0"/>
              <a:t>Giancarlo Corti, Tommaso </a:t>
            </a:r>
            <a:r>
              <a:rPr lang="it-IT" sz="1200" dirty="0" err="1"/>
              <a:t>Agnola</a:t>
            </a:r>
            <a:endParaRPr lang="it-IT" sz="1200" dirty="0"/>
          </a:p>
        </p:txBody>
      </p:sp>
      <p:sp>
        <p:nvSpPr>
          <p:cNvPr id="12" name="Segnaposto testo 11"/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r>
              <a:rPr lang="it-IT" dirty="0"/>
              <a:t>Committente</a:t>
            </a:r>
          </a:p>
        </p:txBody>
      </p:sp>
      <p:sp>
        <p:nvSpPr>
          <p:cNvPr id="13" name="Segnaposto testo 12"/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r>
              <a:rPr lang="it-IT" dirty="0"/>
              <a:t>Anno</a:t>
            </a:r>
          </a:p>
        </p:txBody>
      </p:sp>
      <p:sp>
        <p:nvSpPr>
          <p:cNvPr id="14" name="Segnaposto testo 13"/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r>
              <a:rPr lang="it-IT"/>
              <a:t>2024/2025</a:t>
            </a:r>
          </a:p>
        </p:txBody>
      </p:sp>
      <p:sp>
        <p:nvSpPr>
          <p:cNvPr id="15" name="Segnaposto testo 14"/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r>
              <a:rPr lang="it-IT" dirty="0"/>
              <a:t>Correlatore</a:t>
            </a:r>
          </a:p>
        </p:txBody>
      </p:sp>
      <p:sp>
        <p:nvSpPr>
          <p:cNvPr id="16" name="Segnaposto testo 15"/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r>
              <a:rPr lang="it-IT" dirty="0"/>
              <a:t>Tommaso </a:t>
            </a:r>
            <a:r>
              <a:rPr lang="it-IT" dirty="0" err="1"/>
              <a:t>Agnola</a:t>
            </a:r>
            <a:endParaRPr lang="it-IT" dirty="0"/>
          </a:p>
        </p:txBody>
      </p:sp>
      <p:sp>
        <p:nvSpPr>
          <p:cNvPr id="17" name="Segnaposto testo 16"/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r>
              <a:rPr lang="it-IT" dirty="0"/>
              <a:t>27.08.2025</a:t>
            </a:r>
          </a:p>
        </p:txBody>
      </p:sp>
      <p:sp>
        <p:nvSpPr>
          <p:cNvPr id="18" name="Segnaposto testo 17"/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r>
              <a:rPr lang="it-IT" dirty="0"/>
              <a:t>Data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97AE6EC-4E4E-6EA1-399C-DF536B3C7B4D}"/>
              </a:ext>
            </a:extLst>
          </p:cNvPr>
          <p:cNvSpPr txBox="1"/>
          <p:nvPr/>
        </p:nvSpPr>
        <p:spPr>
          <a:xfrm>
            <a:off x="8820472" y="6417096"/>
            <a:ext cx="2160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1109575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42B6A22-5DF1-4725-4B69-89EC082562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3528" y="2314972"/>
            <a:ext cx="8568952" cy="4248472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Context &amp; Motivation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Problem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Requirements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Approach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Demo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Conclusions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52B85-8A26-6B56-27E5-57300C5E91E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b="1" dirty="0"/>
              <a:t>Table of contents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5BA5D5-76CE-B860-0183-72B5E2B0F54B}"/>
              </a:ext>
            </a:extLst>
          </p:cNvPr>
          <p:cNvSpPr txBox="1"/>
          <p:nvPr/>
        </p:nvSpPr>
        <p:spPr>
          <a:xfrm>
            <a:off x="8820472" y="6417096"/>
            <a:ext cx="2160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8375437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06EB16-FCE7-88E8-4B17-0BC447C15CE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b="1" dirty="0"/>
              <a:t>Context</a:t>
            </a:r>
          </a:p>
        </p:txBody>
      </p:sp>
      <p:pic>
        <p:nvPicPr>
          <p:cNvPr id="7" name="Picture 6" descr="A screenshot of a game&#10;&#10;AI-generated content may be incorrect.">
            <a:extLst>
              <a:ext uri="{FF2B5EF4-FFF2-40B4-BE49-F238E27FC236}">
                <a16:creationId xmlns:a16="http://schemas.microsoft.com/office/drawing/2014/main" id="{877F1BD3-AA99-08F1-95EE-24DFFDDBA1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9952" y="1654227"/>
            <a:ext cx="3816424" cy="470559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2559558-15CA-7903-6C72-065769799BFF}"/>
              </a:ext>
            </a:extLst>
          </p:cNvPr>
          <p:cNvSpPr txBox="1"/>
          <p:nvPr/>
        </p:nvSpPr>
        <p:spPr>
          <a:xfrm>
            <a:off x="395536" y="2420888"/>
            <a:ext cx="309634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Desktop GUI application development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Software Engineering Principles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C291534-17B4-B9A1-F27B-9135644720CE}"/>
              </a:ext>
            </a:extLst>
          </p:cNvPr>
          <p:cNvSpPr txBox="1"/>
          <p:nvPr/>
        </p:nvSpPr>
        <p:spPr>
          <a:xfrm>
            <a:off x="8820472" y="6417096"/>
            <a:ext cx="2160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3934928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3B54B9-0510-3F8F-F01E-609493282C1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b="1" dirty="0"/>
              <a:t>Motivation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55BCFA-7D89-3DA4-72C3-6AC1D2132AAF}"/>
              </a:ext>
            </a:extLst>
          </p:cNvPr>
          <p:cNvSpPr txBox="1"/>
          <p:nvPr/>
        </p:nvSpPr>
        <p:spPr>
          <a:xfrm>
            <a:off x="395536" y="2420888"/>
            <a:ext cx="374441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/>
          </a:p>
          <a:p>
            <a:r>
              <a:rPr lang="en-US" b="1" dirty="0"/>
              <a:t>Practice Java </a:t>
            </a:r>
          </a:p>
          <a:p>
            <a:r>
              <a:rPr lang="en-US" b="1" dirty="0"/>
              <a:t>Object-Oriented-Programming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Interactive UI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</p:txBody>
      </p:sp>
      <p:pic>
        <p:nvPicPr>
          <p:cNvPr id="5" name="Picture 4" descr="A screenshot of a game&#10;&#10;AI-generated content may be incorrect.">
            <a:extLst>
              <a:ext uri="{FF2B5EF4-FFF2-40B4-BE49-F238E27FC236}">
                <a16:creationId xmlns:a16="http://schemas.microsoft.com/office/drawing/2014/main" id="{12945960-EE21-B544-7FE3-24BB777AA5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9952" y="1654227"/>
            <a:ext cx="3816424" cy="470559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3298334-1365-369C-13E9-C28864434386}"/>
              </a:ext>
            </a:extLst>
          </p:cNvPr>
          <p:cNvSpPr txBox="1"/>
          <p:nvPr/>
        </p:nvSpPr>
        <p:spPr>
          <a:xfrm>
            <a:off x="8820472" y="6417096"/>
            <a:ext cx="2160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9806477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A85CC0-4350-7EAF-973F-B54FE5067B4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b="1" dirty="0"/>
              <a:t>Problem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C8C246-E161-66D7-6DE3-738706EDD58C}"/>
              </a:ext>
            </a:extLst>
          </p:cNvPr>
          <p:cNvSpPr txBox="1"/>
          <p:nvPr/>
        </p:nvSpPr>
        <p:spPr>
          <a:xfrm>
            <a:off x="395536" y="2420888"/>
            <a:ext cx="352839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Develop </a:t>
            </a:r>
            <a:r>
              <a:rPr lang="en-US" b="1" dirty="0" err="1"/>
              <a:t>MineSweeper</a:t>
            </a:r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Allow Setting Customization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Persistence Saving-Loading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BBF3D7-750C-78E2-C94A-68290BEDFFEC}"/>
              </a:ext>
            </a:extLst>
          </p:cNvPr>
          <p:cNvSpPr txBox="1"/>
          <p:nvPr/>
        </p:nvSpPr>
        <p:spPr>
          <a:xfrm>
            <a:off x="8820472" y="6417096"/>
            <a:ext cx="2160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5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556F92-31A5-724B-171E-4807E31C3F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7904" y="396697"/>
            <a:ext cx="4801508" cy="6064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1320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5209C4-08AA-6A3D-85BB-2FCD33228E8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b="1" dirty="0"/>
              <a:t>Requirements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F97977-AC4B-BB41-99AD-C15E44D4AAD2}"/>
              </a:ext>
            </a:extLst>
          </p:cNvPr>
          <p:cNvSpPr txBox="1"/>
          <p:nvPr/>
        </p:nvSpPr>
        <p:spPr>
          <a:xfrm>
            <a:off x="395536" y="1953041"/>
            <a:ext cx="792088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Interactive gameplay			Save and Load feature</a:t>
            </a:r>
          </a:p>
          <a:p>
            <a:endParaRPr lang="en-US" b="1" dirty="0"/>
          </a:p>
          <a:p>
            <a:r>
              <a:rPr lang="en-US" b="1" dirty="0"/>
              <a:t>Menu and Cold reloaded Preferences	Multiple Language Support</a:t>
            </a:r>
          </a:p>
          <a:p>
            <a:endParaRPr lang="en-US" b="1" dirty="0"/>
          </a:p>
          <a:p>
            <a:r>
              <a:rPr lang="en-US" b="1" dirty="0"/>
              <a:t>Multi Module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2D4C6E98-E87A-543A-3E54-C42EA880BC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1960" y="1052736"/>
            <a:ext cx="4305402" cy="755052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6A97A1F8-4645-170D-D3FA-5E21E58AC2F4}"/>
              </a:ext>
            </a:extLst>
          </p:cNvPr>
          <p:cNvSpPr txBox="1"/>
          <p:nvPr/>
        </p:nvSpPr>
        <p:spPr>
          <a:xfrm>
            <a:off x="8820472" y="6417096"/>
            <a:ext cx="2160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6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88723C5-1104-041D-854B-7979D11A0C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726" y="3459070"/>
            <a:ext cx="7556500" cy="311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95353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A9F525-D075-692C-9A45-DBEE014F785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b="1" dirty="0"/>
              <a:t>Approach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9F7A7D-F71B-0994-A9A6-F0DF374D09ED}"/>
              </a:ext>
            </a:extLst>
          </p:cNvPr>
          <p:cNvSpPr txBox="1"/>
          <p:nvPr/>
        </p:nvSpPr>
        <p:spPr>
          <a:xfrm>
            <a:off x="395536" y="2420888"/>
            <a:ext cx="763284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Java 17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JavaFx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Git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dirty="0">
                <a:sym typeface="Wingdings" pitchFamily="2" charset="2"/>
              </a:rPr>
              <a:t>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	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version control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Maven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	</a:t>
            </a:r>
            <a:r>
              <a:rPr lang="en-US" dirty="0">
                <a:sym typeface="Wingdings" pitchFamily="2" charset="2"/>
              </a:rPr>
              <a:t> 	</a:t>
            </a:r>
            <a:r>
              <a:rPr lang="en-US" i="1" dirty="0">
                <a:sym typeface="Wingdings" pitchFamily="2" charset="2"/>
              </a:rPr>
              <a:t>dependencies management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Iterative incremental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22012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75E24B-DCA8-C0C0-4DB8-905533CE4DB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b="1" dirty="0"/>
              <a:t>Approach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2E73CB-C231-B7C5-5B33-2E5E2E197178}"/>
              </a:ext>
            </a:extLst>
          </p:cNvPr>
          <p:cNvSpPr txBox="1"/>
          <p:nvPr/>
        </p:nvSpPr>
        <p:spPr>
          <a:xfrm>
            <a:off x="395536" y="2420888"/>
            <a:ext cx="763284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ym typeface="Wingdings" pitchFamily="2" charset="2"/>
              </a:rPr>
              <a:t>Back end</a:t>
            </a:r>
          </a:p>
          <a:p>
            <a:endParaRPr lang="en-US" dirty="0">
              <a:sym typeface="Wingdings" pitchFamily="2" charset="2"/>
            </a:endParaRPr>
          </a:p>
          <a:p>
            <a:endParaRPr lang="en-US" dirty="0">
              <a:sym typeface="Wingdings" pitchFamily="2" charset="2"/>
            </a:endParaRPr>
          </a:p>
          <a:p>
            <a:r>
              <a:rPr lang="en-US" b="1" dirty="0">
                <a:sym typeface="Wingdings" pitchFamily="2" charset="2"/>
              </a:rPr>
              <a:t>Service</a:t>
            </a:r>
            <a:r>
              <a:rPr lang="en-US" dirty="0">
                <a:sym typeface="Wingdings" pitchFamily="2" charset="2"/>
              </a:rPr>
              <a:t>: </a:t>
            </a:r>
            <a:r>
              <a:rPr lang="en-US" i="1" dirty="0">
                <a:sym typeface="Wingdings" pitchFamily="2" charset="2"/>
              </a:rPr>
              <a:t>Game Logic (</a:t>
            </a:r>
            <a:r>
              <a:rPr lang="en-US" i="1" dirty="0" err="1">
                <a:sym typeface="Wingdings" pitchFamily="2" charset="2"/>
              </a:rPr>
              <a:t>DefaultGameService</a:t>
            </a:r>
            <a:r>
              <a:rPr lang="en-US" i="1" dirty="0">
                <a:sym typeface="Wingdings" pitchFamily="2" charset="2"/>
              </a:rPr>
              <a:t>)</a:t>
            </a:r>
          </a:p>
          <a:p>
            <a:endParaRPr lang="en-US" dirty="0">
              <a:sym typeface="Wingdings" pitchFamily="2" charset="2"/>
            </a:endParaRPr>
          </a:p>
          <a:p>
            <a:endParaRPr lang="en-US" dirty="0">
              <a:sym typeface="Wingdings" pitchFamily="2" charset="2"/>
            </a:endParaRPr>
          </a:p>
          <a:p>
            <a:endParaRPr lang="en-US" dirty="0">
              <a:sym typeface="Wingdings" pitchFamily="2" charset="2"/>
            </a:endParaRPr>
          </a:p>
          <a:p>
            <a:r>
              <a:rPr lang="en-US" b="1" dirty="0">
                <a:sym typeface="Wingdings" pitchFamily="2" charset="2"/>
              </a:rPr>
              <a:t>Model</a:t>
            </a:r>
            <a:r>
              <a:rPr lang="en-US" dirty="0">
                <a:sym typeface="Wingdings" pitchFamily="2" charset="2"/>
              </a:rPr>
              <a:t>: </a:t>
            </a:r>
            <a:r>
              <a:rPr lang="en-US" i="1" dirty="0">
                <a:sym typeface="Wingdings" pitchFamily="2" charset="2"/>
              </a:rPr>
              <a:t>Game State (</a:t>
            </a:r>
            <a:r>
              <a:rPr lang="en-US" i="1" dirty="0" err="1">
                <a:sym typeface="Wingdings" pitchFamily="2" charset="2"/>
              </a:rPr>
              <a:t>GameModel</a:t>
            </a:r>
            <a:r>
              <a:rPr lang="en-US" i="1" dirty="0">
                <a:sym typeface="Wingdings" pitchFamily="2" charset="2"/>
              </a:rPr>
              <a:t>)</a:t>
            </a:r>
          </a:p>
          <a:p>
            <a:endParaRPr lang="en-US" dirty="0">
              <a:sym typeface="Wingdings" pitchFamily="2" charset="2"/>
            </a:endParaRPr>
          </a:p>
          <a:p>
            <a:endParaRPr lang="en-US" dirty="0">
              <a:sym typeface="Wingdings" pitchFamily="2" charset="2"/>
            </a:endParaRPr>
          </a:p>
          <a:p>
            <a:endParaRPr lang="en-US" dirty="0">
              <a:sym typeface="Wingdings" pitchFamily="2" charset="2"/>
            </a:endParaRPr>
          </a:p>
          <a:p>
            <a:r>
              <a:rPr lang="en-US" b="1" dirty="0">
                <a:sym typeface="Wingdings" pitchFamily="2" charset="2"/>
              </a:rPr>
              <a:t>Persistence</a:t>
            </a:r>
            <a:r>
              <a:rPr lang="en-US" dirty="0">
                <a:sym typeface="Wingdings" pitchFamily="2" charset="2"/>
              </a:rPr>
              <a:t>: </a:t>
            </a:r>
            <a:r>
              <a:rPr lang="en-US" i="1" dirty="0">
                <a:sym typeface="Wingdings" pitchFamily="2" charset="2"/>
              </a:rPr>
              <a:t>Game Repo , preference Repo (Json, </a:t>
            </a:r>
            <a:r>
              <a:rPr lang="en-US" i="1" dirty="0" err="1">
                <a:sym typeface="Wingdings" pitchFamily="2" charset="2"/>
              </a:rPr>
              <a:t>AppPreference</a:t>
            </a:r>
            <a:r>
              <a:rPr lang="en-US" i="1" dirty="0">
                <a:sym typeface="Wingdings" pitchFamily="2" charset="2"/>
              </a:rPr>
              <a:t>)</a:t>
            </a:r>
          </a:p>
          <a:p>
            <a:endParaRPr lang="en-US" i="1" dirty="0">
              <a:sym typeface="Wingdings" pitchFamily="2" charset="2"/>
            </a:endParaRPr>
          </a:p>
          <a:p>
            <a:endParaRPr lang="en-US" i="1" dirty="0">
              <a:sym typeface="Wingdings" pitchFamily="2" charset="2"/>
            </a:endParaRPr>
          </a:p>
          <a:p>
            <a:endParaRPr lang="en-US" dirty="0">
              <a:sym typeface="Wingdings" pitchFamily="2" charset="2"/>
            </a:endParaRPr>
          </a:p>
          <a:p>
            <a:endParaRPr lang="en-US" dirty="0">
              <a:sym typeface="Wingdings" pitchFamily="2" charset="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48F730-4163-4210-4D57-3AAEFB8630F4}"/>
              </a:ext>
            </a:extLst>
          </p:cNvPr>
          <p:cNvSpPr txBox="1"/>
          <p:nvPr/>
        </p:nvSpPr>
        <p:spPr>
          <a:xfrm>
            <a:off x="8820472" y="6417096"/>
            <a:ext cx="2160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4749678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D022E-4FDF-B64A-4485-0A03D5488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19643A-E1ED-8E61-D753-4D4E1DC6BE6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b="1" dirty="0"/>
              <a:t>Approach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1B0303-4630-66FA-0D46-B023C823DD02}"/>
              </a:ext>
            </a:extLst>
          </p:cNvPr>
          <p:cNvSpPr txBox="1"/>
          <p:nvPr/>
        </p:nvSpPr>
        <p:spPr>
          <a:xfrm>
            <a:off x="395536" y="2420888"/>
            <a:ext cx="7632848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ym typeface="Wingdings" pitchFamily="2" charset="2"/>
              </a:rPr>
              <a:t>Front end</a:t>
            </a:r>
          </a:p>
          <a:p>
            <a:endParaRPr lang="en-US" dirty="0">
              <a:sym typeface="Wingdings" pitchFamily="2" charset="2"/>
            </a:endParaRPr>
          </a:p>
          <a:p>
            <a:endParaRPr lang="en-US" dirty="0">
              <a:sym typeface="Wingdings" pitchFamily="2" charset="2"/>
            </a:endParaRPr>
          </a:p>
          <a:p>
            <a:r>
              <a:rPr lang="en-US" b="1" dirty="0">
                <a:sym typeface="Wingdings" pitchFamily="2" charset="2"/>
              </a:rPr>
              <a:t>View</a:t>
            </a:r>
            <a:r>
              <a:rPr lang="en-US" dirty="0">
                <a:sym typeface="Wingdings" pitchFamily="2" charset="2"/>
              </a:rPr>
              <a:t>: </a:t>
            </a:r>
            <a:r>
              <a:rPr lang="en-US" i="1" dirty="0">
                <a:sym typeface="Wingdings" pitchFamily="2" charset="2"/>
              </a:rPr>
              <a:t>UI JavaFX (</a:t>
            </a:r>
            <a:r>
              <a:rPr lang="en-US" i="1" dirty="0" err="1">
                <a:sym typeface="Wingdings" pitchFamily="2" charset="2"/>
              </a:rPr>
              <a:t>MenuBar</a:t>
            </a:r>
            <a:r>
              <a:rPr lang="en-US" i="1" dirty="0">
                <a:sym typeface="Wingdings" pitchFamily="2" charset="2"/>
              </a:rPr>
              <a:t>, </a:t>
            </a:r>
            <a:r>
              <a:rPr lang="en-US" i="1" dirty="0" err="1">
                <a:sym typeface="Wingdings" pitchFamily="2" charset="2"/>
              </a:rPr>
              <a:t>GameBoard</a:t>
            </a:r>
            <a:r>
              <a:rPr lang="en-US" i="1" dirty="0">
                <a:sym typeface="Wingdings" pitchFamily="2" charset="2"/>
              </a:rPr>
              <a:t>, Feedback, Dialogs)</a:t>
            </a:r>
          </a:p>
          <a:p>
            <a:endParaRPr lang="en-US" dirty="0">
              <a:sym typeface="Wingdings" pitchFamily="2" charset="2"/>
            </a:endParaRPr>
          </a:p>
          <a:p>
            <a:endParaRPr lang="en-US" dirty="0">
              <a:sym typeface="Wingdings" pitchFamily="2" charset="2"/>
            </a:endParaRPr>
          </a:p>
          <a:p>
            <a:r>
              <a:rPr lang="en-US" b="1" dirty="0">
                <a:sym typeface="Wingdings" pitchFamily="2" charset="2"/>
              </a:rPr>
              <a:t>Controller</a:t>
            </a:r>
            <a:r>
              <a:rPr lang="en-US" dirty="0">
                <a:sym typeface="Wingdings" pitchFamily="2" charset="2"/>
              </a:rPr>
              <a:t>: </a:t>
            </a:r>
            <a:r>
              <a:rPr lang="en-US" i="1" dirty="0" err="1">
                <a:sym typeface="Wingdings" pitchFamily="2" charset="2"/>
              </a:rPr>
              <a:t>GameController</a:t>
            </a:r>
            <a:r>
              <a:rPr lang="en-US" i="1" dirty="0">
                <a:sym typeface="Wingdings" pitchFamily="2" charset="2"/>
              </a:rPr>
              <a:t> , </a:t>
            </a:r>
            <a:r>
              <a:rPr lang="en-US" i="1" dirty="0" err="1">
                <a:sym typeface="Wingdings" pitchFamily="2" charset="2"/>
              </a:rPr>
              <a:t>MenuController</a:t>
            </a:r>
            <a:r>
              <a:rPr lang="en-US" i="1" dirty="0">
                <a:sym typeface="Wingdings" pitchFamily="2" charset="2"/>
              </a:rPr>
              <a:t> unifies game events and user input</a:t>
            </a:r>
          </a:p>
          <a:p>
            <a:endParaRPr lang="en-US" i="1" dirty="0">
              <a:sym typeface="Wingdings" pitchFamily="2" charset="2"/>
            </a:endParaRPr>
          </a:p>
          <a:p>
            <a:endParaRPr lang="en-US" i="1" dirty="0">
              <a:sym typeface="Wingdings" pitchFamily="2" charset="2"/>
            </a:endParaRPr>
          </a:p>
          <a:p>
            <a:r>
              <a:rPr lang="en-US" b="1" dirty="0">
                <a:sym typeface="Wingdings" pitchFamily="2" charset="2"/>
              </a:rPr>
              <a:t>Model</a:t>
            </a:r>
            <a:r>
              <a:rPr lang="en-US" dirty="0">
                <a:sym typeface="Wingdings" pitchFamily="2" charset="2"/>
              </a:rPr>
              <a:t>: </a:t>
            </a:r>
            <a:r>
              <a:rPr lang="en-US" i="1" dirty="0" err="1">
                <a:sym typeface="Wingdings" pitchFamily="2" charset="2"/>
              </a:rPr>
              <a:t>delega</a:t>
            </a:r>
            <a:r>
              <a:rPr lang="en-US" i="1" dirty="0">
                <a:sym typeface="Wingdings" pitchFamily="2" charset="2"/>
              </a:rPr>
              <a:t> backend Model (</a:t>
            </a:r>
            <a:r>
              <a:rPr lang="en-US" i="1" dirty="0" err="1">
                <a:sym typeface="Wingdings" pitchFamily="2" charset="2"/>
              </a:rPr>
              <a:t>GameUiModel</a:t>
            </a:r>
            <a:r>
              <a:rPr lang="en-US" i="1" dirty="0">
                <a:sym typeface="Wingdings" pitchFamily="2" charset="2"/>
              </a:rPr>
              <a:t>)</a:t>
            </a:r>
          </a:p>
          <a:p>
            <a:endParaRPr lang="en-US" i="1" dirty="0"/>
          </a:p>
          <a:p>
            <a:endParaRPr lang="en-US" dirty="0">
              <a:sym typeface="Wingdings" pitchFamily="2" charset="2"/>
            </a:endParaRPr>
          </a:p>
          <a:p>
            <a:endParaRPr lang="en-US" dirty="0">
              <a:sym typeface="Wingdings" pitchFamily="2" charset="2"/>
            </a:endParaRPr>
          </a:p>
          <a:p>
            <a:endParaRPr lang="en-US" dirty="0">
              <a:sym typeface="Wingdings" pitchFamily="2" charset="2"/>
            </a:endParaRPr>
          </a:p>
          <a:p>
            <a:endParaRPr lang="en-US" dirty="0">
              <a:sym typeface="Wingdings" pitchFamily="2" charset="2"/>
            </a:endParaRPr>
          </a:p>
          <a:p>
            <a:endParaRPr lang="en-US" dirty="0">
              <a:sym typeface="Wingdings" pitchFamily="2" charset="2"/>
            </a:endParaRPr>
          </a:p>
          <a:p>
            <a:endParaRPr lang="en-US" dirty="0">
              <a:sym typeface="Wingdings" pitchFamily="2" charset="2"/>
            </a:endParaRPr>
          </a:p>
          <a:p>
            <a:endParaRPr lang="en-US" dirty="0">
              <a:sym typeface="Wingdings" pitchFamily="2" charset="2"/>
            </a:endParaRPr>
          </a:p>
          <a:p>
            <a:endParaRPr lang="en-US" dirty="0">
              <a:sym typeface="Wingdings" pitchFamily="2" charset="2"/>
            </a:endParaRPr>
          </a:p>
          <a:p>
            <a:endParaRPr lang="en-US" dirty="0">
              <a:sym typeface="Wingdings" pitchFamily="2" charset="2"/>
            </a:endParaRPr>
          </a:p>
          <a:p>
            <a:endParaRPr lang="en-US" dirty="0">
              <a:sym typeface="Wingdings" pitchFamily="2" charset="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45ABD2-BA7E-18E8-E8E3-A2D422EE5BFF}"/>
              </a:ext>
            </a:extLst>
          </p:cNvPr>
          <p:cNvSpPr txBox="1"/>
          <p:nvPr/>
        </p:nvSpPr>
        <p:spPr>
          <a:xfrm>
            <a:off x="8820472" y="6417096"/>
            <a:ext cx="2160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0589237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D253BC-6C3E-D6B7-959A-099A5793A5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b="1" dirty="0"/>
              <a:t>Approach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5E24A0-940A-4D2F-7888-2676209F7237}"/>
              </a:ext>
            </a:extLst>
          </p:cNvPr>
          <p:cNvSpPr txBox="1"/>
          <p:nvPr/>
        </p:nvSpPr>
        <p:spPr>
          <a:xfrm>
            <a:off x="8820472" y="6417096"/>
            <a:ext cx="4320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10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D53641C-2BA1-436D-EDD9-BCA3E89EE8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704" y="1772922"/>
            <a:ext cx="6171654" cy="4626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97993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636A4B-6BFD-2F56-1CC1-56090A7EBF5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b="1" dirty="0"/>
              <a:t>Approach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E879BF-E172-A707-E164-CAD8A95FB4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2124091"/>
            <a:ext cx="7625050" cy="2723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2671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7F7403-4ABF-AAF4-9DE1-3B05BB59E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208E82A-98C7-88A1-F4CB-B614464BB91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3528" y="1203808"/>
            <a:ext cx="7848872" cy="5393544"/>
          </a:xfrm>
        </p:spPr>
        <p:txBody>
          <a:bodyPr/>
          <a:lstStyle/>
          <a:p>
            <a:pPr algn="ctr"/>
            <a:endParaRPr lang="it-IT" sz="4400" dirty="0"/>
          </a:p>
          <a:p>
            <a:pPr algn="ctr"/>
            <a:endParaRPr lang="it-IT" sz="4400" dirty="0"/>
          </a:p>
          <a:p>
            <a:pPr algn="ctr"/>
            <a:r>
              <a:rPr lang="it-IT" sz="4400" b="1" dirty="0"/>
              <a:t>Demo</a:t>
            </a:r>
          </a:p>
          <a:p>
            <a:endParaRPr lang="it-IT" sz="4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ED928DE-0530-8D3E-DE63-BEF0C17C2CD2}"/>
              </a:ext>
            </a:extLst>
          </p:cNvPr>
          <p:cNvSpPr txBox="1"/>
          <p:nvPr/>
        </p:nvSpPr>
        <p:spPr>
          <a:xfrm>
            <a:off x="8820472" y="6417096"/>
            <a:ext cx="4320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5176944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99D62F-EA90-041F-08A2-75ED7760E51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b="1" dirty="0"/>
              <a:t>Conclusions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DE793B-FADF-FC25-D439-2A231BC80BF1}"/>
              </a:ext>
            </a:extLst>
          </p:cNvPr>
          <p:cNvSpPr txBox="1"/>
          <p:nvPr/>
        </p:nvSpPr>
        <p:spPr>
          <a:xfrm>
            <a:off x="8820472" y="6417096"/>
            <a:ext cx="4320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13</a:t>
            </a:r>
          </a:p>
        </p:txBody>
      </p:sp>
      <p:pic>
        <p:nvPicPr>
          <p:cNvPr id="9" name="Picture 8" descr="A red and black sign&#10;&#10;AI-generated content may be incorrect.">
            <a:extLst>
              <a:ext uri="{FF2B5EF4-FFF2-40B4-BE49-F238E27FC236}">
                <a16:creationId xmlns:a16="http://schemas.microsoft.com/office/drawing/2014/main" id="{B1B26ADA-AE10-06B2-5657-BB3363F55C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5896" y="1801027"/>
            <a:ext cx="3825044" cy="382504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7B8A1A6-0940-0AD6-EDF0-33E3EBF10D43}"/>
              </a:ext>
            </a:extLst>
          </p:cNvPr>
          <p:cNvSpPr txBox="1"/>
          <p:nvPr/>
        </p:nvSpPr>
        <p:spPr>
          <a:xfrm>
            <a:off x="395536" y="2420888"/>
            <a:ext cx="756084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48746"/>
      </p:ext>
    </p:extLst>
  </p:cSld>
  <p:clrMapOvr>
    <a:masterClrMapping/>
  </p:clrMapOvr>
</p:sld>
</file>

<file path=ppt/theme/theme1.xml><?xml version="1.0" encoding="utf-8"?>
<a:theme xmlns:a="http://schemas.openxmlformats.org/drawingml/2006/main" name="PPT_StudentKit_DTI">
  <a:themeElements>
    <a:clrScheme name="SUPSI 1">
      <a:dk1>
        <a:srgbClr val="000000"/>
      </a:dk1>
      <a:lt1>
        <a:sysClr val="window" lastClr="FFFFFF"/>
      </a:lt1>
      <a:dk2>
        <a:srgbClr val="141C64"/>
      </a:dk2>
      <a:lt2>
        <a:srgbClr val="FFFFFF"/>
      </a:lt2>
      <a:accent1>
        <a:srgbClr val="141C78"/>
      </a:accent1>
      <a:accent2>
        <a:srgbClr val="2838C8"/>
      </a:accent2>
      <a:accent3>
        <a:srgbClr val="0063C8"/>
      </a:accent3>
      <a:accent4>
        <a:srgbClr val="0096FF"/>
      </a:accent4>
      <a:accent5>
        <a:srgbClr val="46A01E"/>
      </a:accent5>
      <a:accent6>
        <a:srgbClr val="8CD23C"/>
      </a:accent6>
      <a:hlink>
        <a:srgbClr val="000000"/>
      </a:hlink>
      <a:folHlink>
        <a:srgbClr val="646464"/>
      </a:folHlink>
    </a:clrScheme>
    <a:fontScheme name="SUPSI">
      <a:majorFont>
        <a:latin typeface="Times New Roman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PPT_StudentKit_DTI</Template>
  <TotalTime>10123</TotalTime>
  <Words>240</Words>
  <Application>Microsoft Macintosh PowerPoint</Application>
  <PresentationFormat>On-screen Show (4:3)</PresentationFormat>
  <Paragraphs>141</Paragraphs>
  <Slides>13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gg sans</vt:lpstr>
      <vt:lpstr>Times New Roman</vt:lpstr>
      <vt:lpstr>Wingdings</vt:lpstr>
      <vt:lpstr>PPT_StudentKit_DTI</vt:lpstr>
      <vt:lpstr>MineSweeper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SUPSI-DTI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giofre</dc:creator>
  <cp:lastModifiedBy>Yildirim Memet Emre</cp:lastModifiedBy>
  <cp:revision>21</cp:revision>
  <cp:lastPrinted>2012-05-23T12:47:14Z</cp:lastPrinted>
  <dcterms:created xsi:type="dcterms:W3CDTF">2012-06-06T06:29:02Z</dcterms:created>
  <dcterms:modified xsi:type="dcterms:W3CDTF">2025-08-26T12:32:14Z</dcterms:modified>
</cp:coreProperties>
</file>